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2103120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4C80"/>
                </a:solidFill>
                <a:latin typeface="Times New Roman"/>
              </a:rPr>
              <a:t>ONEPASS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" y="2761488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Georeferenced, metrically accurate 3D from a single drone 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" y="3310128"/>
            <a:ext cx="192024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3438144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Problem Statement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" y="3621024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SIH26158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3931920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Problem Statement Title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" y="4114800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AI-enabled single-pass drone video to a georeferenced, metrically accurate 3D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" y="4608576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Theme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" y="4956048"/>
            <a:ext cx="51206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9552" y="480974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C8102E"/>
                </a:solidFill>
                <a:latin typeface="Arial"/>
              </a:rPr>
              <a:t>fill 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5065776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PS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5248656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Software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5559552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Team 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" y="5907024"/>
            <a:ext cx="51206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57607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C8102E"/>
                </a:solidFill>
                <a:latin typeface="Arial"/>
              </a:rPr>
              <a:t>fill 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" y="6016752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Team Name (Registered on portal)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" y="6364224"/>
            <a:ext cx="51206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9552" y="62179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C8102E"/>
                </a:solidFill>
                <a:latin typeface="Arial"/>
              </a:rPr>
              <a:t>fill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6035040" y="1188720"/>
            <a:ext cx="10972" cy="237744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329184" y="3675887"/>
            <a:ext cx="11530584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329184" y="1435608"/>
            <a:ext cx="553212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329184" y="1517904"/>
            <a:ext cx="55321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ONEPASS converts one UAV video plus its GPS log into Earth-referenced, measurable 3D. Telemetry drives the solve instead of being stamped on afterwards.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329184" y="2304288"/>
            <a:ext cx="1316736" cy="786384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420623" y="2404872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4C80"/>
                </a:solidFill>
                <a:latin typeface="Times New Roman"/>
              </a:rPr>
              <a:t>68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20623" y="277977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frames kept of 288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1728216" y="2304288"/>
            <a:ext cx="1316736" cy="786384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1819656" y="2404872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4C80"/>
                </a:solidFill>
                <a:latin typeface="Times New Roman"/>
              </a:rPr>
              <a:t>1.57M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1819656" y="277977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fused points, one real run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127248" y="2304288"/>
            <a:ext cx="1316736" cy="786384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3218688" y="2404872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4C80"/>
                </a:solidFill>
                <a:latin typeface="Times New Roman"/>
              </a:rPr>
              <a:t>287/287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218688" y="277977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cameras matched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4526280" y="2304288"/>
            <a:ext cx="1316736" cy="786384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4617720" y="2404872"/>
            <a:ext cx="1133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4C80"/>
                </a:solidFill>
                <a:latin typeface="Times New Roman"/>
              </a:rPr>
              <a:t>5 of 6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4617720" y="2779776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official formats delivered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172200" y="1188720"/>
            <a:ext cx="5687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6172200" y="1435608"/>
            <a:ext cx="5687568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172200" y="152704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1.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6446520" y="1517904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CAPTURE INTELLIGENCE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446520" y="1709928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Reads video and GPX / DJI .srt telemetry. Baseline-aware keyframe planning spends the frame budget where parallax is won.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6172200" y="2029967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2.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6446520" y="2020824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METRIC RECONSTRUCTION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446520" y="2212848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GPS enters bundle adjustment as per-camera priors with per-axis uncertainty; robust Sim(3) into local ENU, then dense stereo.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6172200" y="253288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3.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6446520" y="2523744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EVIDENCE GATING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446520" y="2715768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Blur, compression and motion measured as separate gates before matching. 4.85% of pixels vetoed; reprojection error better by 7.8%.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172200" y="303580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4.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446520" y="3026664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GEOREFERENCED DELIVERY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446520" y="3218688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CRS derived from scene origin; mesh, cloud, DSM, ortho and a walkable browser scene all from the same pass.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29184" y="3785615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 How it addresses the problem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329184" y="4032504"/>
            <a:ext cx="553212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329184" y="4187951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Terrain and structures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2157984" y="4187951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Poisson mesh + fused dense cloud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4718304" y="4187951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Delivered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329184" y="4526280"/>
            <a:ext cx="553212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329184" y="459028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Facades and rooftops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2157984" y="4590288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Oblique/nadir plan, baseline-ranked frames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4718304" y="45902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Mechanism</a:t>
            </a:r>
          </a:p>
        </p:txBody>
      </p:sp>
      <p:sp>
        <p:nvSpPr>
          <p:cNvPr id="15402" name="Rectangle 15401"/>
          <p:cNvSpPr/>
          <p:nvPr/>
        </p:nvSpPr>
        <p:spPr>
          <a:xfrm>
            <a:off x="329184" y="4928616"/>
            <a:ext cx="553212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329184" y="4992624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Roads and infrastructure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2157984" y="4992624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Metric DSM, ortho, position table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4718304" y="49926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Delivered</a:t>
            </a:r>
          </a:p>
        </p:txBody>
      </p:sp>
      <p:sp>
        <p:nvSpPr>
          <p:cNvPr id="15406" name="Rectangle 15405"/>
          <p:cNvSpPr/>
          <p:nvPr/>
        </p:nvSpPr>
        <p:spPr>
          <a:xfrm>
            <a:off x="329184" y="5330952"/>
            <a:ext cx="553212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329184" y="539496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Vegetation and obstacles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2157984" y="5394960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Static kept, motion masked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4718304" y="53949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Measured</a:t>
            </a:r>
          </a:p>
        </p:txBody>
      </p:sp>
      <p:sp>
        <p:nvSpPr>
          <p:cNvPr id="15410" name="Rectangle 15409"/>
          <p:cNvSpPr/>
          <p:nvPr/>
        </p:nvSpPr>
        <p:spPr>
          <a:xfrm>
            <a:off x="329184" y="5733288"/>
            <a:ext cx="553212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1" name="TextBox 15410"/>
          <p:cNvSpPr txBox="1"/>
          <p:nvPr/>
        </p:nvSpPr>
        <p:spPr>
          <a:xfrm>
            <a:off x="329184" y="5797296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Textured mesh / point cloud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2157984" y="5797296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PLY + LAS now, UV atlas open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4718304" y="579729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Partial</a:t>
            </a:r>
          </a:p>
        </p:txBody>
      </p:sp>
      <p:sp>
        <p:nvSpPr>
          <p:cNvPr id="15414" name="Rectangle 15413"/>
          <p:cNvSpPr/>
          <p:nvPr/>
        </p:nvSpPr>
        <p:spPr>
          <a:xfrm>
            <a:off x="329184" y="6135624"/>
            <a:ext cx="553212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5" name="TextBox 15414"/>
          <p:cNvSpPr txBox="1"/>
          <p:nvPr/>
        </p:nvSpPr>
        <p:spPr>
          <a:xfrm>
            <a:off x="6172200" y="3785615"/>
            <a:ext cx="5687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Innovation and uniqueness of the solution </a:t>
            </a:r>
          </a:p>
        </p:txBody>
      </p:sp>
      <p:sp>
        <p:nvSpPr>
          <p:cNvPr id="15416" name="Rectangle 15415"/>
          <p:cNvSpPr/>
          <p:nvPr/>
        </p:nvSpPr>
        <p:spPr>
          <a:xfrm>
            <a:off x="6172200" y="4032504"/>
            <a:ext cx="5687568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7" name="TextBox 15416"/>
          <p:cNvSpPr txBox="1"/>
          <p:nvPr/>
        </p:nvSpPr>
        <p:spPr>
          <a:xfrm>
            <a:off x="6172200" y="416052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1.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6446520" y="4151376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GPS AS PRIORS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6446520" y="4343400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Enters bundle adjustment with per-axis uncertainty — never an EPSG stamp pasted onto the output afterwards.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6172200" y="466344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2.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6446520" y="4654296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BASELINE-AWARE SELECTION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6446520" y="4846320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The one lever that improves geometry and speed at the same time.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6172200" y="516636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3.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6446520" y="5157216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BLUR AND COMPRESSION SPLIT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6446520" y="5349240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Two failure modes measured and gated separately, not merged into a single score.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6172200" y="566928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Times New Roman"/>
              </a:rPr>
              <a:t>4.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6446520" y="5660136"/>
            <a:ext cx="54132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GEOMETRY THAT CANNOT LIE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6446520" y="5852160"/>
            <a:ext cx="54132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Measured, weak and unobserved surfaces stay separate. No inpainting entry point exists in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11530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435608"/>
            <a:ext cx="11530584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Chevron 17411"/>
          <p:cNvSpPr/>
          <p:nvPr/>
        </p:nvSpPr>
        <p:spPr>
          <a:xfrm>
            <a:off x="329184" y="1517904"/>
            <a:ext cx="1361313" cy="566928"/>
          </a:xfrm>
          <a:prstGeom prst="chevron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9184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video + GPS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1781937" y="1517904"/>
            <a:ext cx="1361313" cy="5669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PREPARE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781937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gates + plan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3234690" y="1517904"/>
            <a:ext cx="1361313" cy="566928"/>
          </a:xfrm>
          <a:prstGeom prst="chevron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FRAMES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34690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68 of 288</a:t>
            </a:r>
          </a:p>
        </p:txBody>
      </p:sp>
      <p:sp>
        <p:nvSpPr>
          <p:cNvPr id="17418" name="Chevron 17417"/>
          <p:cNvSpPr/>
          <p:nvPr/>
        </p:nvSpPr>
        <p:spPr>
          <a:xfrm>
            <a:off x="4687443" y="1517904"/>
            <a:ext cx="1361313" cy="5669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PRIORS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687443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GPS to poses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6140196" y="1517904"/>
            <a:ext cx="1361313" cy="566928"/>
          </a:xfrm>
          <a:prstGeom prst="chevron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MAP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0196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239.7 s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7592949" y="1517904"/>
            <a:ext cx="1361313" cy="5669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DENSE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592949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1.57M pts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9045702" y="1517904"/>
            <a:ext cx="1361313" cy="566928"/>
          </a:xfrm>
          <a:prstGeom prst="chevron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MESH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045702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Poisson</a:t>
            </a:r>
          </a:p>
        </p:txBody>
      </p:sp>
      <p:sp>
        <p:nvSpPr>
          <p:cNvPr id="17426" name="Chevron 17425"/>
          <p:cNvSpPr/>
          <p:nvPr/>
        </p:nvSpPr>
        <p:spPr>
          <a:xfrm>
            <a:off x="10498455" y="1517904"/>
            <a:ext cx="1361313" cy="5669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498455" y="2121408"/>
            <a:ext cx="13613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5 of 6 fmts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29184" y="24505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29184" y="2697480"/>
            <a:ext cx="603504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29184" y="28346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Language / runtime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993392" y="2834640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Python, CUDA, PyTorch, Docker + conda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329184" y="3072384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329184" y="311810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Reconstruction core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993392" y="3118104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COLMAP 4.1.1: pose-prior mapper, PatchMatch, Poisson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29184" y="3355848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29184" y="3401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Geometry / alignment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993392" y="3401568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Robust Sim(3) + RANSAC, WGS84 to local ENU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329184" y="3639312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329184" y="36850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Frame intelligence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993392" y="368503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ffmpeg decode; Laplacian, Tenengrad, blocking scores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29184" y="3922776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329184" y="396849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Telemetry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993392" y="3968496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GPX, DJI .srt, Pilot CSV, contract CSV readers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329184" y="4206240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329184" y="425195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Output products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1993392" y="4251959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PLY, LAS, GeoTIFF, glTF/GLB, FBX, WGS84 table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329184" y="4489703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329184" y="4535423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Interface / QA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1993392" y="4535423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PlayCanvas viewer, Next.js console, headless-Chrome walk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329184" y="4773167"/>
            <a:ext cx="603504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675120" y="2450592"/>
            <a:ext cx="5184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Measured speed-up on one RTX 3050 6 GB laptop (×)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6675120" y="2697480"/>
            <a:ext cx="5184648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6675120" y="2880360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Baseline-aware frame selection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8887967" y="2871216"/>
            <a:ext cx="2073859" cy="201168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11016691" y="288036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4.2×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675120" y="3191256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Sequential vs exhaustive match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8887967" y="3182112"/>
            <a:ext cx="1925726" cy="201168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10868558" y="3191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3.9×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675120" y="3502151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Dense: fast profile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887967" y="3493008"/>
            <a:ext cx="1283817" cy="2011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10226649" y="350215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2.6×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675120" y="3813048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Dense: budget profile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8887967" y="3803904"/>
            <a:ext cx="1925726" cy="2011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10868558" y="381304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3.9×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10369296" y="2834640"/>
            <a:ext cx="12801" cy="12252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9820656" y="407822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50" b="1" i="0">
                <a:solidFill>
                  <a:srgbClr val="C8102E"/>
                </a:solidFill>
                <a:latin typeface="Arial"/>
              </a:rPr>
              <a:t>3.0× needed to fit 900 s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6675120" y="4407408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50" b="0" i="1">
                <a:solidFill>
                  <a:srgbClr val="595959"/>
                </a:solidFill>
                <a:latin typeface="Arial"/>
              </a:rPr>
              <a:t>First bar is estimated from measured per-image rates; the other three are measured stage times.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329184" y="4882896"/>
            <a:ext cx="11530584" cy="1316736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Rectangle 17468"/>
          <p:cNvSpPr/>
          <p:nvPr/>
        </p:nvSpPr>
        <p:spPr>
          <a:xfrm>
            <a:off x="329184" y="4882896"/>
            <a:ext cx="54864" cy="131673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530352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4:30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530352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demo video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2377440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11/11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2377440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CPU suites green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4224528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151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4224528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survey tests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071616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1,405 MiB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6071616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peak VRAM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7918704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65.3 m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7918704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walked, 0 falls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9765792" y="506577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4C80"/>
                </a:solidFill>
                <a:latin typeface="Times New Roman"/>
              </a:rPr>
              <a:t>8/8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9765792" y="53949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cells at 2 m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530352" y="5760720"/>
            <a:ext cx="11155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rial"/>
              </a:rPr>
              <a:t>Working prototype: repository with continuous integration and a 4 minute 30 second recorded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435608"/>
            <a:ext cx="630936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5179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4C80"/>
                </a:solidFill>
                <a:latin typeface="Arial"/>
              </a:rPr>
              <a:t>Parameter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249424" y="15179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4C80"/>
                </a:solidFill>
                <a:latin typeface="Arial"/>
              </a:rPr>
              <a:t>Official target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15384" y="15179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4C80"/>
                </a:solidFill>
                <a:latin typeface="Arial"/>
              </a:rPr>
              <a:t>Position today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9184" y="1719072"/>
            <a:ext cx="6309360" cy="128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29184" y="1810512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Reconstruction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249424" y="181051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3D mesh / point cloud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15384" y="181051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Delivered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2084832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29184" y="2139696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Processing time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249424" y="2139696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&lt; 15 min per 10-min video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215384" y="213969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Not met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329184" y="2414016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29184" y="2468880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Spatial accuracy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249424" y="246888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≤ 1 m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15384" y="246888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Unproven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329184" y="2743200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329184" y="279806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Coverage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249424" y="279806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Entire visible scene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215384" y="279806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Partial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29184" y="3072384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329184" y="312724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Output formats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249424" y="3127248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6 formats specified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15384" y="3127248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C8102E"/>
                </a:solidFill>
                <a:latin typeface="Arial"/>
              </a:rPr>
              <a:t>5 of 6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29184" y="3401568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29184" y="3456432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Visualisation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249424" y="3456432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95959"/>
                </a:solidFill>
                <a:latin typeface="Arial"/>
              </a:rPr>
              <a:t>Web or desktop viewer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215384" y="3456432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Delivered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29184" y="3730752"/>
            <a:ext cx="6309360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329184" y="3840479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Against the brief’s eight key challenges: 1 fulfilled with measurement, 5 mechanism-complete awaiting data, 1 partial by design, 1 not met on this hardware.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059168" y="1188720"/>
            <a:ext cx="4800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Official evaluation criteria — weight and evidence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7059168" y="1435608"/>
            <a:ext cx="480060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059168" y="15544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Accuracy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476488" y="1586484"/>
            <a:ext cx="1325880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9857232" y="15544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30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059168" y="1764792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Mechanism complete, unproven on qualifying data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059168" y="195681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Completeness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8476488" y="1988820"/>
            <a:ext cx="883919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9857232" y="195681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20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059168" y="2167128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Observability measured, 8 of 8 cells at 2 m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059168" y="235915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Speed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8476488" y="2391156"/>
            <a:ext cx="883919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9857232" y="235915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20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059168" y="2569464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2.6–4.2× levers, time gate still unmet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7059168" y="27614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Innovation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476488" y="2793492"/>
            <a:ext cx="662940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9857232" y="276148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15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059168" y="2971800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Delivered and distinct from survey-first pipelines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059168" y="316382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Scalability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476488" y="3195828"/>
            <a:ext cx="441959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9857232" y="316382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10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059168" y="337413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Runs on one 6 GB laptop, peak 1,405 MiB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7059168" y="356616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8476488" y="3598164"/>
            <a:ext cx="220979" cy="155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9857232" y="35661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5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7059168" y="3776472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Arial"/>
              </a:rPr>
              <a:t>Walkable viewer, 65.3 m, 16 of 16 waypoints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7059168" y="4005072"/>
            <a:ext cx="4800600" cy="694944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7059168" y="4005072"/>
            <a:ext cx="54864" cy="69494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7242048" y="4087368"/>
            <a:ext cx="4498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Accuracy, completeness and speed carry 70 of 100 points — and all three sit inside the reconstruction core. Usability is worth 5. That weighting is why the build order went to geometry before the viewer.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329184" y="4590288"/>
            <a:ext cx="11530584" cy="12801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329184" y="4700016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329184" y="4946904"/>
            <a:ext cx="553212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6309360" y="4700016"/>
            <a:ext cx="5550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6309360" y="4946904"/>
            <a:ext cx="5550408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329184" y="5120640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Dense stereo needs ~3× more speed at a 270-frame aerial budget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309360" y="5120640"/>
            <a:ext cx="5550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Three measured levers behind one profile flag plus windowed submaps; one 10-minute flight run twice proves it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329184" y="5422392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Consumer GNSS is 1–3 m and worse vertically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6309360" y="5422392"/>
            <a:ext cx="5550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GPS enters as uncertainty-weighted priors with takeoff-anchored heights; RTK/PPK kept as a separate declared track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329184" y="5724144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Occluded faces cannot be imaged from a single path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6309360" y="5724144"/>
            <a:ext cx="5550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The hole is measured and published with its excluded area; generative inpainting deliberately absent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329184" y="6025896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Exports never read by a third-party reader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6309360" y="6025896"/>
            <a:ext cx="55504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Arial"/>
              </a:rPr>
              <a:t>Add GDAL, PDAL and laspy validation gates to CI before the qualifying flight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435608"/>
            <a:ext cx="6766560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1517904"/>
            <a:ext cx="6766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One engine turns the footage a mission already captures into a measurable world — offline, on hardware a team already carries.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9184" y="2039112"/>
            <a:ext cx="54864" cy="365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93776" y="20116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BORDER AND PERIMETER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93776" y="2203704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Hostile terrain mapped without a survey crew entering it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29184" y="2496312"/>
            <a:ext cx="54864" cy="365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93776" y="24688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DISASTER FIRST RESPONSE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93776" y="2660904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Damage model before the first team lands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29184" y="2953512"/>
            <a:ext cx="54864" cy="365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93776" y="29260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FACILITIES AND TELEMETRY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93776" y="3118104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Existing sites digitised from footage already flown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29184" y="3410712"/>
            <a:ext cx="54864" cy="365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93776" y="33832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MISSION REHEARSAL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93776" y="3575304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Walkable scene of the objective area before approach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29184" y="3895344"/>
            <a:ext cx="6766560" cy="713232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329184" y="3895344"/>
            <a:ext cx="54864" cy="713232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93776" y="3959352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Military reconnaissance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93776" y="4151376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004C80"/>
                </a:solidFill>
                <a:latin typeface="Arial"/>
              </a:rPr>
              <a:t>AVAILABLE TODAY — a 65.3 m walkable terrain scene, 16 of 16 waypoints, 0 falls, with position, ground, obstacle and flyable data.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93776" y="4370831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C8102E"/>
                </a:solidFill>
                <a:latin typeface="Arial"/>
              </a:rPr>
              <a:t>ONE BUILD AWAY — enemy indicators (helmet, vehicle, tent, gun) and full mission-rehearsal data that flying alone cannot supply.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29184" y="4681728"/>
            <a:ext cx="6766560" cy="713232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329184" y="4681728"/>
            <a:ext cx="54864" cy="713232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493776" y="4745736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Urban planning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93776" y="4937760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004C80"/>
                </a:solidFill>
                <a:latin typeface="Arial"/>
              </a:rPr>
              <a:t>AVAILABLE TODAY — georeferenced buildings, roads, vegetation and utilities from real scenes; 5 of 6 official formats in one run.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93776" y="5157216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C8102E"/>
                </a:solidFill>
                <a:latin typeface="Arial"/>
              </a:rPr>
              <a:t>ONE BUILD AWAY — semantic layers and a text legend.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29184" y="5504688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Supporting: disaster response, AI-in-the-loop flight optimisation, digital twins, historical preservation, forestry and agriculture, inspection.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7095744" y="1188720"/>
            <a:ext cx="10972" cy="493776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223760" y="1188720"/>
            <a:ext cx="4636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7223760" y="1435608"/>
            <a:ext cx="4636008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7223760" y="1572768"/>
            <a:ext cx="4636008" cy="12070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7223760" y="1572768"/>
            <a:ext cx="54864" cy="1207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406640" y="1682495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SOCIAL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406640" y="1920240"/>
            <a:ext cx="42885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First damage model in minutes for search and rescue, with no cell tower and no cloud. The terrain of a landslide or a flood is walked remotely before anyone walks it for real.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7223760" y="2889504"/>
            <a:ext cx="4636008" cy="12070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7223760" y="2889504"/>
            <a:ext cx="54864" cy="1207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406640" y="2999232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ECONOMIC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406640" y="3236976"/>
            <a:ext cx="42885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One flight instead of a survey sortie and a ground-control crew. Developed on a 6 GB laptop peaking at 1,405 MiB — no workstation to buy, no ground station to establish.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7223760" y="4206240"/>
            <a:ext cx="4636008" cy="12070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7223760" y="4206240"/>
            <a:ext cx="54864" cy="1207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7406640" y="4315968"/>
            <a:ext cx="4288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STRATEGIC AND ENVIRONMENTAL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406640" y="4553712"/>
            <a:ext cx="42885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Runs fully offline for contested or air-gapped sites. Licence-clean and reproducible from one command. Fewer repeat sorties over the same ground.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7223760" y="5541263"/>
            <a:ext cx="4636008" cy="548640"/>
          </a:xfrm>
          <a:prstGeom prst="rect">
            <a:avLst/>
          </a:prstGeom>
          <a:solidFill>
            <a:srgbClr val="E8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388352" y="5632703"/>
            <a:ext cx="43251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50" b="1" i="0">
                <a:solidFill>
                  <a:srgbClr val="004C80"/>
                </a:solidFill>
                <a:latin typeface="Arial"/>
              </a:rPr>
              <a:t>Target audience: field engineers, disaster-response and border-mapping agencies, survey and construction firms, facility and autonomous-operations teams.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188720"/>
            <a:ext cx="11530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04C8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9184" y="1435608"/>
            <a:ext cx="11530584" cy="1645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9184" y="1536192"/>
            <a:ext cx="2798064" cy="274320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0623" y="159105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RECONSTRUCTION AND MAPPING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1920240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COLMAP SfM and MVS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7472" y="22311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colmap.github.io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47472" y="2505456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47472" y="2596896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OpenDroneMap photogrammetry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47472" y="2907791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github.com/OpenDroneMap/ODM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47472" y="3182112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47472" y="3273552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Single-pass UAV trajectory planning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3584448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github.com/ch1bo/drone-reconstruction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47472" y="3858768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3227832" y="1536192"/>
            <a:ext cx="2798064" cy="274320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319272" y="159105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FEED-FORWARD GEOMETRY AND TRACKING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46120" y="1920240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DPVO deep patch visual odometry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46120" y="22311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github.com/princeton-vl/DPVO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3246120" y="2505456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3246120" y="2596896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Pi3 equivariant reconstruction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246120" y="2907791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github.com/yyfz/Pi3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246120" y="3182112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3246120" y="3273552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Depth-Anything-3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46120" y="3584448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github.com/ByteDance-Seed/Depth-Anything-3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246120" y="3858768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3246120" y="3950208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MapAnything metric 3D mapping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246120" y="4261104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github.com/facebookresearch/map-anything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246120" y="4535424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246120" y="4626864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VGGT-Long online reconstruction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246120" y="493776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github.com/DengKaiCQ/VGGT-Long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246120" y="5212080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6126480" y="1536192"/>
            <a:ext cx="2798064" cy="274320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217920" y="159105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RENDERING, PHYSICS AND EVALUATION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144768" y="1920240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gsplat Gaussian splatting stack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144768" y="22311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docs.gsplat.studio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6144768" y="2505456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144768" y="2596896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MuJoCo physics engine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144768" y="2907791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mujoco.org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6144768" y="3182112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144768" y="3273552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evo trajectory evaluation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144768" y="3584448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github.com/MichaelGrupp/evo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144768" y="3858768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144768" y="3950208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RGB-D and completion datasets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144768" y="4261104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dornhelge.github.io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6144768" y="4535424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9025128" y="1536192"/>
            <a:ext cx="2798064" cy="274320"/>
          </a:xfrm>
          <a:prstGeom prst="rect">
            <a:avLst/>
          </a:prstGeom>
          <a:solidFill>
            <a:srgbClr val="004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9116567" y="159105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THIS SUBMISSION’S EVIDENCE TRAIL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9043415" y="1920240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Problem statement and desired output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9043415" y="2231136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SIH26158 PDF, pp. 38–40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9043415" y="2505456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9043415" y="2596896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Evaluation and improvement report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043415" y="2907791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09_SIH26158_Evaluation...2026-09-22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9043415" y="3182112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9043415" y="3273552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Evidence map, wiring ledger, findings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43415" y="3584448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docs/readiness/04, 02, 01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9043415" y="3858768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9043415" y="3950208"/>
            <a:ext cx="2670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Prototype and demo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9043415" y="4261104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50" b="0" i="0">
                <a:solidFill>
                  <a:srgbClr val="0070C0"/>
                </a:solidFill>
                <a:latin typeface="Arial"/>
              </a:rPr>
              <a:t>github.com/krisgarg25/Drone_Phone_video...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9043415" y="4535424"/>
            <a:ext cx="2670048" cy="7315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329184" y="5120640"/>
            <a:ext cx="11530584" cy="111556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Rectangle 17468"/>
          <p:cNvSpPr/>
          <p:nvPr/>
        </p:nvSpPr>
        <p:spPr>
          <a:xfrm>
            <a:off x="329184" y="5120640"/>
            <a:ext cx="54864" cy="11155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530352" y="5230368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4C80"/>
                </a:solidFill>
                <a:latin typeface="Arial"/>
              </a:rPr>
              <a:t>EVIDENCE ACCOUNTABILITY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530352" y="5486400"/>
            <a:ext cx="111556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Measured figures are stage times, frame counts, point counts and errors read from machine-generated reports. Anything not yet proven is labelled a target and stated as unproven. The 1.14 m hold-out figure is reported against a drifting phone inertial reference and is presented as reference-dependent rather than as a pass. No total evaluation score is shown, because only the accuracy and completeness terms could be computed.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
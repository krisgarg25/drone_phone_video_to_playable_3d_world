
<file path=[Content_Types].xml><?xml version="1.0" encoding="utf-8"?>
<Types xmlns="http://schemas.openxmlformats.org/package/2006/content-types"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Default Extension="jpg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304" r:id="rId20"/>
    <p:sldId id="299" r:id="rId15"/>
    <p:sldId id="300" r:id="rId16"/>
    <p:sldId id="301" r:id="rId17"/>
    <p:sldId id="302" r:id="rId18"/>
    <p:sldId id="305" r:id="rId21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1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schemas.openxmlformats.org/officeDocument/2006/relationships/notesMaster" Target="notesMasters/notesMaster1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erged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erged4.png"/><Relationship Id="rId3" Type="http://schemas.openxmlformats.org/officeDocument/2006/relationships/image" Target="../media/merged5.jpg"/><Relationship Id="rId5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erged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erged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erged10.png"/><Relationship Id="rId3" Type="http://schemas.openxmlformats.org/officeDocument/2006/relationships/image" Target="../media/merged11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merged12.png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C540B7B-2639-410D-ADC8-8D651C831653}"/>
              </a:ext>
            </a:extLst>
          </p:cNvPr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F497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365D01E-A5EE-4B6B-9C1E-51D3583174C7}"/>
              </a:ext>
            </a:extLst>
          </p:cNvPr>
          <p:cNvSpPr txBox="1"/>
          <p:nvPr/>
        </p:nvSpPr>
        <p:spPr>
          <a:xfrm>
            <a:off x="457200" y="655320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  <a:ea typeface="Calibri"/>
              </a:rPr>
              <a:t>SIH26158  ·  Single-Pass Drone Video to Accurate 3D Model Generation System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1903DA5-30C8-4480-863D-2B6E01C1F7D0}"/>
              </a:ext>
            </a:extLst>
          </p:cNvPr>
          <p:cNvSpPr txBox="1"/>
          <p:nvPr/>
        </p:nvSpPr>
        <p:spPr>
          <a:xfrm>
            <a:off x="10668000" y="6553200"/>
            <a:ext cx="10668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02 / 06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7BE541F-FDF8-4E1B-85A3-9EE19812FA8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715500" y="171450"/>
            <a:ext cx="2019300" cy="9525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AB53C93-5B80-43C0-80BC-61B2CA01282A}"/>
              </a:ext>
            </a:extLst>
          </p:cNvPr>
          <p:cNvSpPr txBox="1"/>
          <p:nvPr/>
        </p:nvSpPr>
        <p:spPr>
          <a:xfrm>
            <a:off x="457200" y="2476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Calibri"/>
              </a:rPr>
              <a:t>PROPOSED SOLUTION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4404421-C6BB-4A79-864D-A1A1725149C2}"/>
              </a:ext>
            </a:extLst>
          </p:cNvPr>
          <p:cNvSpPr/>
          <p:nvPr/>
        </p:nvSpPr>
        <p:spPr>
          <a:xfrm>
            <a:off x="457200" y="742950"/>
            <a:ext cx="1143000" cy="38100"/>
          </a:xfrm>
          <a:prstGeom prst="rect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C28839D-BA20-450C-B4EE-97461CD7D1A4}"/>
              </a:ext>
            </a:extLst>
          </p:cNvPr>
          <p:cNvSpPr txBox="1"/>
          <p:nvPr/>
        </p:nvSpPr>
        <p:spPr>
          <a:xfrm>
            <a:off x="457200" y="838200"/>
            <a:ext cx="8572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5A6B84"/>
                </a:solidFill>
                <a:latin typeface="Calibri"/>
                <a:ea typeface="Calibri"/>
              </a:rPr>
              <a:t>Idea title: Drone3D  ·  what we build, why it answers the brief, and what makes it different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9563E60-F956-44B4-8306-EA1C7E75EFB6}"/>
              </a:ext>
            </a:extLst>
          </p:cNvPr>
          <p:cNvSpPr/>
          <p:nvPr/>
        </p:nvSpPr>
        <p:spPr>
          <a:xfrm>
            <a:off x="457200" y="1181100"/>
            <a:ext cx="11277600" cy="6477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DFC5971-27E2-4BCF-8A74-D6DA671A3CF7}"/>
              </a:ext>
            </a:extLst>
          </p:cNvPr>
          <p:cNvSpPr txBox="1"/>
          <p:nvPr/>
        </p:nvSpPr>
        <p:spPr>
          <a:xfrm>
            <a:off x="609600" y="1295400"/>
            <a:ext cx="10972800" cy="487680"/>
          </a:xfrm>
        </p:spPr>
        <p:txBody>
          <a:bodyPr wrap="square" rtlCol="0" lIns="0" tIns="0" rIns="0" bIns="0" anchor="t"/>
          <a:lstStyle/>
          <a:p>
            <a:pPr algn="l"/>
            <a:r>
              <a:rPr sz="1600" b="1">
                <a:solidFill>
                  <a:srgbClr val="1F497D"/>
                </a:solidFill>
                <a:latin typeface="Calibri"/>
                <a:ea typeface="Calibri"/>
              </a:rPr>
              <a:t>Drone3D </a:t>
            </a:r>
            <a:r>
              <a:rPr sz="1600">
                <a:solidFill>
                  <a:srgbClr val="16233A"/>
                </a:solidFill>
                <a:latin typeface="Calibri"/>
                <a:ea typeface="Calibri"/>
              </a:rPr>
              <a:t>- one video, one solve, one coordinate system: a georeferenced point cloud and mesh that reports which parts it measured, which it inferred weakly, and never saw.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B8C911FA-EBE9-4A26-8FFD-38D900E01B60}"/>
              </a:ext>
            </a:extLst>
          </p:cNvPr>
          <p:cNvSpPr/>
          <p:nvPr/>
        </p:nvSpPr>
        <p:spPr>
          <a:xfrm>
            <a:off x="457200" y="1962150"/>
            <a:ext cx="3629025" cy="21336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43DAAAB-1161-4898-8DF5-CC7836F12E77}"/>
              </a:ext>
            </a:extLst>
          </p:cNvPr>
          <p:cNvSpPr txBox="1"/>
          <p:nvPr/>
        </p:nvSpPr>
        <p:spPr>
          <a:xfrm>
            <a:off x="590550" y="2095500"/>
            <a:ext cx="3362325" cy="18669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F497D"/>
                </a:solidFill>
                <a:latin typeface="Calibri"/>
                <a:ea typeface="Calibri"/>
              </a:rPr>
              <a:t>DETAILED EXPLANATION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Ingest video + GPS + flight metadata (GPX, DJI .srt, CSV)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Select sharp, well-spaced frames by blur, compression and camera baseline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Solve poses and depth with COLMAP; optional Gaussian-splat view</a:t>
            </a:r>
          </a:p>
          <a:p>
            <a:pPr marL="228600" indent="-228600" algn="l"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Align to WGS84/UTM, export six formats, a QC ledger and a browser viewer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D58C79D-16E4-4899-BC98-8AE6AEA33E3F}"/>
              </a:ext>
            </a:extLst>
          </p:cNvPr>
          <p:cNvSpPr/>
          <p:nvPr/>
        </p:nvSpPr>
        <p:spPr>
          <a:xfrm>
            <a:off x="4276725" y="1962150"/>
            <a:ext cx="3629025" cy="21336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2062A88-1C8D-465E-A538-EE6778E69A98}"/>
              </a:ext>
            </a:extLst>
          </p:cNvPr>
          <p:cNvSpPr txBox="1"/>
          <p:nvPr/>
        </p:nvSpPr>
        <p:spPr>
          <a:xfrm>
            <a:off x="4410075" y="2095500"/>
            <a:ext cx="3362325" cy="18669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F497D"/>
                </a:solidFill>
                <a:latin typeface="Calibri"/>
                <a:ea typeface="Calibri"/>
              </a:rPr>
              <a:t>HOW IT ADDRESSES THE PROBLEM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Limited angles and blur: quality-scored frames, never every frame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Moving objects: epipolar motion veto, no labels or manual masking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GPS noise: priors inside the solve, RANSAC Sim(3), EGM96 vertical datum</a:t>
            </a:r>
          </a:p>
          <a:p>
            <a:pPr marL="228600" indent="-228600" algn="l"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Speed: windowed submaps and cost-tiered dense profiles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177A9AB9-42C2-450B-B675-B40FE285A810}"/>
              </a:ext>
            </a:extLst>
          </p:cNvPr>
          <p:cNvSpPr/>
          <p:nvPr/>
        </p:nvSpPr>
        <p:spPr>
          <a:xfrm>
            <a:off x="8096250" y="1962150"/>
            <a:ext cx="3629025" cy="21336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B9A245A5-7DFC-47F5-B74F-91C42A779AAA}"/>
              </a:ext>
            </a:extLst>
          </p:cNvPr>
          <p:cNvSpPr txBox="1"/>
          <p:nvPr/>
        </p:nvSpPr>
        <p:spPr>
          <a:xfrm>
            <a:off x="8229600" y="2095500"/>
            <a:ext cx="3362325" cy="18669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F497D"/>
                </a:solidFill>
                <a:latin typeface="Calibri"/>
                <a:ea typeface="Calibri"/>
              </a:rPr>
              <a:t>INNOVATION AND UNIQUENESS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GNSS used as a constraint in bundle adjustment, not a stamp after it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Per-point evidence and occlusion-checked support - a model you can audit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The same measured surface becomes a walkable, navigable scene in the browser</a:t>
            </a:r>
          </a:p>
          <a:p>
            <a:pPr marL="228600" indent="-228600" algn="l"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Single-pass video, no LiDAR, no GCP flight, no per-site calibration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F60EFAF-8377-4492-A747-090C5653D36C}"/>
              </a:ext>
            </a:extLst>
          </p:cNvPr>
          <p:cNvSpPr txBox="1"/>
          <p:nvPr/>
        </p:nvSpPr>
        <p:spPr>
          <a:xfrm>
            <a:off x="457200" y="422910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0070C0"/>
                </a:solidFill>
                <a:latin typeface="Calibri"/>
                <a:ea typeface="Calibri"/>
              </a:rPr>
              <a:t>OFFICIAL CONTRACT WE DESIGN AGAINST  (SIH26158 DESIRED OUTPUT)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942E67BD-9560-4035-9AAC-F02603A5AAFF}"/>
              </a:ext>
            </a:extLst>
          </p:cNvPr>
          <p:cNvSpPr/>
          <p:nvPr/>
        </p:nvSpPr>
        <p:spPr>
          <a:xfrm>
            <a:off x="457200" y="4476750"/>
            <a:ext cx="1552575" cy="9144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F497D"/>
                </a:solidFill>
                <a:latin typeface="Calibri"/>
                <a:ea typeface="Calibri"/>
              </a:rPr>
              <a:t>≤ 1 m</a:t>
            </a:r>
          </a:p>
          <a:p>
            <a:pPr algn="ctr"/>
            <a:r>
              <a:rPr sz="900">
                <a:solidFill>
                  <a:srgbClr val="5A6B84"/>
                </a:solidFill>
                <a:latin typeface="Calibri"/>
                <a:ea typeface="Calibri"/>
              </a:rPr>
              <a:t>spatial accuracy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341B4571-3218-4786-9953-029219903280}"/>
              </a:ext>
            </a:extLst>
          </p:cNvPr>
          <p:cNvSpPr/>
          <p:nvPr/>
        </p:nvSpPr>
        <p:spPr>
          <a:xfrm>
            <a:off x="2162175" y="4476750"/>
            <a:ext cx="1552575" cy="9144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F497D"/>
                </a:solidFill>
                <a:latin typeface="Calibri"/>
                <a:ea typeface="Calibri"/>
              </a:rPr>
              <a:t>&lt; 15 min</a:t>
            </a:r>
          </a:p>
          <a:p>
            <a:pPr algn="ctr"/>
            <a:r>
              <a:rPr sz="900">
                <a:solidFill>
                  <a:srgbClr val="5A6B84"/>
                </a:solidFill>
                <a:latin typeface="Calibri"/>
                <a:ea typeface="Calibri"/>
              </a:rPr>
              <a:t>for a 10-minute video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7683D7B7-D09F-491F-B6EE-13DB938BAB67}"/>
              </a:ext>
            </a:extLst>
          </p:cNvPr>
          <p:cNvSpPr/>
          <p:nvPr/>
        </p:nvSpPr>
        <p:spPr>
          <a:xfrm>
            <a:off x="3867150" y="4476750"/>
            <a:ext cx="1552575" cy="9144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F497D"/>
                </a:solidFill>
                <a:latin typeface="Calibri"/>
                <a:ea typeface="Calibri"/>
              </a:rPr>
              <a:t>6 formats</a:t>
            </a:r>
          </a:p>
          <a:p>
            <a:pPr algn="ctr"/>
            <a:r>
              <a:rPr sz="900">
                <a:solidFill>
                  <a:srgbClr val="5A6B84"/>
                </a:solidFill>
                <a:latin typeface="Calibri"/>
                <a:ea typeface="Calibri"/>
              </a:rPr>
              <a:t>OBJ · PLY · LAS · GeoTIFF · GLB · FBX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686BA39-C2BA-4B81-AF7B-2C06EA2B6C4F}"/>
              </a:ext>
            </a:extLst>
          </p:cNvPr>
          <p:cNvSpPr/>
          <p:nvPr/>
        </p:nvSpPr>
        <p:spPr>
          <a:xfrm>
            <a:off x="5572125" y="4476750"/>
            <a:ext cx="1552575" cy="9144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F497D"/>
                </a:solidFill>
                <a:latin typeface="Calibri"/>
                <a:ea typeface="Calibri"/>
              </a:rPr>
              <a:t>Entire scene</a:t>
            </a:r>
          </a:p>
          <a:p>
            <a:pPr algn="ctr"/>
            <a:r>
              <a:rPr sz="900">
                <a:solidFill>
                  <a:srgbClr val="5A6B84"/>
                </a:solidFill>
                <a:latin typeface="Calibri"/>
                <a:ea typeface="Calibri"/>
              </a:rPr>
              <a:t>visible coverage, web or desktop viewer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A753098F-680D-404F-9258-2EDC6C2C3F8A}"/>
              </a:ext>
            </a:extLst>
          </p:cNvPr>
          <p:cNvSpPr txBox="1"/>
          <p:nvPr/>
        </p:nvSpPr>
        <p:spPr>
          <a:xfrm>
            <a:off x="457200" y="5524500"/>
            <a:ext cx="6667500" cy="38100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5A6B84"/>
                </a:solidFill>
                <a:latin typeface="Calibri"/>
                <a:ea typeface="Calibri"/>
              </a:rPr>
              <a:t>Scoring weights: Accuracy 30 · Completeness 20 · Speed 20 · Innovation 15 · Scalability 10 · UI 5. Accuracy, completeness and speed are 70% of the marks - all three are geometry, none is a render.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5D3ABEF7-ECF6-4AC4-9991-3E4F841D40CB}"/>
              </a:ext>
            </a:extLst>
          </p:cNvPr>
          <p:cNvSpPr/>
          <p:nvPr/>
        </p:nvSpPr>
        <p:spPr>
          <a:xfrm>
            <a:off x="7353300" y="4229100"/>
            <a:ext cx="4381500" cy="16764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DB819AC4-9DE3-4108-9841-6A95C757A383}"/>
              </a:ext>
            </a:extLst>
          </p:cNvPr>
          <p:cNvSpPr txBox="1"/>
          <p:nvPr/>
        </p:nvSpPr>
        <p:spPr>
          <a:xfrm>
            <a:off x="7486650" y="4362450"/>
            <a:ext cx="4114800" cy="14097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200" b="1">
                <a:solidFill>
                  <a:srgbClr val="1F497D"/>
                </a:solidFill>
                <a:latin typeface="Calibri"/>
                <a:ea typeface="Calibri"/>
              </a:rPr>
              <a:t>WHAT WE DELIBERATELY DO NOT DO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No generative inpainting of unseen faces: gaps stay flagged, not fabricated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No splat-first output: splats are an optional view, the measured cloud is the product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No scale assumed from speed x altitude</a:t>
            </a:r>
          </a:p>
          <a:p>
            <a:pPr marL="228600" indent="-228600" algn="l"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No black-box result: every run leaves an evidence and refusal ledger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7051E75-1D7E-452A-9F8D-4DD143914008}"/>
              </a:ext>
            </a:extLst>
          </p:cNvPr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F497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7B479E9-09F9-41D6-89D5-7958D35A2348}"/>
              </a:ext>
            </a:extLst>
          </p:cNvPr>
          <p:cNvSpPr txBox="1"/>
          <p:nvPr/>
        </p:nvSpPr>
        <p:spPr>
          <a:xfrm>
            <a:off x="457200" y="655320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  <a:ea typeface="Calibri"/>
              </a:rPr>
              <a:t>SIH26158  ·  Single-Pass Drone Video to Accurate 3D Model Generation System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18F2DAF-6CBD-40A2-BD18-78E8989F3C6F}"/>
              </a:ext>
            </a:extLst>
          </p:cNvPr>
          <p:cNvSpPr txBox="1"/>
          <p:nvPr/>
        </p:nvSpPr>
        <p:spPr>
          <a:xfrm>
            <a:off x="10668000" y="6553200"/>
            <a:ext cx="10668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03 / 06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6F03A808-4E79-4C9F-AA60-111A112A0F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715500" y="171450"/>
            <a:ext cx="2019300" cy="9525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F1CB02E-C3B2-4C96-970E-C454F0C625F2}"/>
              </a:ext>
            </a:extLst>
          </p:cNvPr>
          <p:cNvSpPr txBox="1"/>
          <p:nvPr/>
        </p:nvSpPr>
        <p:spPr>
          <a:xfrm>
            <a:off x="457200" y="2476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Calibri"/>
              </a:rPr>
              <a:t>TECHNICAL APPROACH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FD1F933-5212-46CE-B9F2-E693B422E23C}"/>
              </a:ext>
            </a:extLst>
          </p:cNvPr>
          <p:cNvSpPr/>
          <p:nvPr/>
        </p:nvSpPr>
        <p:spPr>
          <a:xfrm>
            <a:off x="457200" y="742950"/>
            <a:ext cx="1143000" cy="38100"/>
          </a:xfrm>
          <a:prstGeom prst="rect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90FB242-4C4C-4FB8-88F6-AF0C5F1EEDF9}"/>
              </a:ext>
            </a:extLst>
          </p:cNvPr>
          <p:cNvSpPr txBox="1"/>
          <p:nvPr/>
        </p:nvSpPr>
        <p:spPr>
          <a:xfrm>
            <a:off x="457200" y="838200"/>
            <a:ext cx="8953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5A6B84"/>
                </a:solidFill>
                <a:latin typeface="Calibri"/>
                <a:ea typeface="Calibri"/>
              </a:rPr>
              <a:t>Six-stage run path, CPU-orchestrated, GPU only where marked  ·  every stage carries a measured figure from a real run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B1D48A2-6D43-418A-8DF0-A39B62F2B9D8}"/>
              </a:ext>
            </a:extLst>
          </p:cNvPr>
          <p:cNvSpPr txBox="1"/>
          <p:nvPr/>
        </p:nvSpPr>
        <p:spPr>
          <a:xfrm>
            <a:off x="457200" y="120015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0070C0"/>
                </a:solidFill>
                <a:latin typeface="Calibri"/>
                <a:ea typeface="Calibri"/>
              </a:rPr>
              <a:t>METHODOLOGY AND PROCESS FOR IMPLEMENTATION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CDEF187-9CE8-4383-8F10-60B937E6ED16}"/>
              </a:ext>
            </a:extLst>
          </p:cNvPr>
          <p:cNvSpPr/>
          <p:nvPr/>
        </p:nvSpPr>
        <p:spPr>
          <a:xfrm>
            <a:off x="457200" y="1447800"/>
            <a:ext cx="3629025" cy="142875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E3D08EB-1BDB-4035-9A79-7FAE4F7778AF}"/>
              </a:ext>
            </a:extLst>
          </p:cNvPr>
          <p:cNvSpPr txBox="1"/>
          <p:nvPr/>
        </p:nvSpPr>
        <p:spPr>
          <a:xfrm>
            <a:off x="590550" y="1562100"/>
            <a:ext cx="3362325" cy="914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Calibri"/>
                <a:ea typeface="Calibri"/>
              </a:rPr>
              <a:t>01  </a:t>
            </a:r>
            <a:r>
              <a:rPr sz="1400" b="1">
                <a:solidFill>
                  <a:srgbClr val="16233A"/>
                </a:solidFill>
                <a:latin typeface="Calibri"/>
                <a:ea typeface="Calibri"/>
              </a:rPr>
              <a:t>Ingest and validate</a:t>
            </a:r>
          </a:p>
          <a:p>
            <a:pPr algn="l">
              <a:spcAft>
                <a:spcPts val="600"/>
              </a:spcAft>
            </a:pPr>
            <a:r>
              <a:rPr sz="950" i="1">
                <a:solidFill>
                  <a:srgbClr val="5A6B84"/>
                </a:solidFill>
                <a:latin typeface="Calibri"/>
                <a:ea typeface="Calibri"/>
              </a:rPr>
              <a:t>GPX · DJI .srt · CSV telemetry parser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GNSS quality gates reject drift before any solve</a:t>
            </a:r>
          </a:p>
          <a:p>
            <a:pPr marL="228600" indent="-228600" algn="l"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Camera model and intrinsics resolved per rig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A329392-586E-4B2D-BA85-2FC10987D4CC}"/>
              </a:ext>
            </a:extLst>
          </p:cNvPr>
          <p:cNvSpPr/>
          <p:nvPr/>
        </p:nvSpPr>
        <p:spPr>
          <a:xfrm>
            <a:off x="590550" y="2514600"/>
            <a:ext cx="3362325" cy="2667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1F497D"/>
                </a:solidFill>
                <a:latin typeface="Calibri"/>
                <a:ea typeface="Calibri"/>
              </a:rPr>
              <a:t>3 telemetry sources · run refuses without GPS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4B764419-E884-4441-8CD8-9E02AAB2616A}"/>
              </a:ext>
            </a:extLst>
          </p:cNvPr>
          <p:cNvSpPr/>
          <p:nvPr/>
        </p:nvSpPr>
        <p:spPr>
          <a:xfrm>
            <a:off x="4276725" y="1447800"/>
            <a:ext cx="3629025" cy="142875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DA2F581-21F0-4295-953E-4360FD403950}"/>
              </a:ext>
            </a:extLst>
          </p:cNvPr>
          <p:cNvSpPr txBox="1"/>
          <p:nvPr/>
        </p:nvSpPr>
        <p:spPr>
          <a:xfrm>
            <a:off x="4410075" y="1562100"/>
            <a:ext cx="3362325" cy="914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Calibri"/>
                <a:ea typeface="Calibri"/>
              </a:rPr>
              <a:t>02  </a:t>
            </a:r>
            <a:r>
              <a:rPr sz="1400" b="1">
                <a:solidFill>
                  <a:srgbClr val="16233A"/>
                </a:solidFill>
                <a:latin typeface="Calibri"/>
                <a:ea typeface="Calibri"/>
              </a:rPr>
              <a:t>Keyframe selection</a:t>
            </a:r>
          </a:p>
          <a:p>
            <a:pPr algn="l">
              <a:spcAft>
                <a:spcPts val="600"/>
              </a:spcAft>
            </a:pPr>
            <a:r>
              <a:rPr sz="950" i="1">
                <a:solidFill>
                  <a:srgbClr val="5A6B84"/>
                </a:solidFill>
                <a:latin typeface="Calibri"/>
                <a:ea typeface="Calibri"/>
              </a:rPr>
              <a:t>extract_keyframes + baseline-aware picker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Blur and compression scored, weak frames dropped</a:t>
            </a:r>
          </a:p>
          <a:p>
            <a:pPr marL="228600" indent="-228600" algn="l"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288 candidate frames reduced to 68 solves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2E4AFBF2-F44D-406F-894D-00BDC891B29E}"/>
              </a:ext>
            </a:extLst>
          </p:cNvPr>
          <p:cNvSpPr/>
          <p:nvPr/>
        </p:nvSpPr>
        <p:spPr>
          <a:xfrm>
            <a:off x="4410075" y="2514600"/>
            <a:ext cx="3362325" cy="2667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1F497D"/>
                </a:solidFill>
                <a:latin typeface="Calibri"/>
                <a:ea typeface="Calibri"/>
              </a:rPr>
              <a:t>mean parallax 5.5° → 20.8°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C8184EC-63C6-484F-8B2D-4013F8344212}"/>
              </a:ext>
            </a:extLst>
          </p:cNvPr>
          <p:cNvSpPr/>
          <p:nvPr/>
        </p:nvSpPr>
        <p:spPr>
          <a:xfrm>
            <a:off x="8096250" y="1447800"/>
            <a:ext cx="3629025" cy="142875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0DD2FAE6-D157-41DB-BDDC-1A1814F5F185}"/>
              </a:ext>
            </a:extLst>
          </p:cNvPr>
          <p:cNvSpPr txBox="1"/>
          <p:nvPr/>
        </p:nvSpPr>
        <p:spPr>
          <a:xfrm>
            <a:off x="8229600" y="1562100"/>
            <a:ext cx="3362325" cy="914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Calibri"/>
                <a:ea typeface="Calibri"/>
              </a:rPr>
              <a:t>03  </a:t>
            </a:r>
            <a:r>
              <a:rPr sz="1400" b="1">
                <a:solidFill>
                  <a:srgbClr val="16233A"/>
                </a:solidFill>
                <a:latin typeface="Calibri"/>
                <a:ea typeface="Calibri"/>
              </a:rPr>
              <a:t>Geo-constrained SfM</a:t>
            </a:r>
          </a:p>
          <a:p>
            <a:pPr algn="l">
              <a:spcAft>
                <a:spcPts val="600"/>
              </a:spcAft>
            </a:pPr>
            <a:r>
              <a:rPr sz="950" i="1">
                <a:solidFill>
                  <a:srgbClr val="5A6B84"/>
                </a:solidFill>
                <a:latin typeface="Calibri"/>
                <a:ea typeface="Calibri"/>
              </a:rPr>
              <a:t>COLMAP 4.1.1 pose_prior_mapper  ·  GPU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GPS positions enter bundle adjustment as priors</a:t>
            </a:r>
          </a:p>
          <a:p>
            <a:pPr marL="228600" indent="-228600" algn="l"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RANSAC Sim(3); straight-line tracks refused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69FD48F-B4F4-44DE-8C30-1D5BF0252D25}"/>
              </a:ext>
            </a:extLst>
          </p:cNvPr>
          <p:cNvSpPr/>
          <p:nvPr/>
        </p:nvSpPr>
        <p:spPr>
          <a:xfrm>
            <a:off x="8229600" y="2514600"/>
            <a:ext cx="3362325" cy="2667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1F497D"/>
                </a:solidFill>
                <a:latin typeface="Calibri"/>
                <a:ea typeface="Calibri"/>
              </a:rPr>
              <a:t>287/287 cameras registered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1928266E-7AAE-45AF-8915-F7D36C82B996}"/>
              </a:ext>
            </a:extLst>
          </p:cNvPr>
          <p:cNvSpPr/>
          <p:nvPr/>
        </p:nvSpPr>
        <p:spPr>
          <a:xfrm>
            <a:off x="457200" y="3028950"/>
            <a:ext cx="3629025" cy="142875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FC123011-80D7-49C6-A36E-5D556DA62772}"/>
              </a:ext>
            </a:extLst>
          </p:cNvPr>
          <p:cNvSpPr txBox="1"/>
          <p:nvPr/>
        </p:nvSpPr>
        <p:spPr>
          <a:xfrm>
            <a:off x="590550" y="3143250"/>
            <a:ext cx="3362325" cy="914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Calibri"/>
                <a:ea typeface="Calibri"/>
              </a:rPr>
              <a:t>04  </a:t>
            </a:r>
            <a:r>
              <a:rPr sz="1400" b="1">
                <a:solidFill>
                  <a:srgbClr val="16233A"/>
                </a:solidFill>
                <a:latin typeface="Calibri"/>
                <a:ea typeface="Calibri"/>
              </a:rPr>
              <a:t>Motion veto</a:t>
            </a:r>
          </a:p>
          <a:p>
            <a:pPr algn="l">
              <a:spcAft>
                <a:spcPts val="600"/>
              </a:spcAft>
            </a:pPr>
            <a:r>
              <a:rPr sz="950" i="1">
                <a:solidFill>
                  <a:srgbClr val="5A6B84"/>
                </a:solidFill>
                <a:latin typeface="Calibri"/>
                <a:ea typeface="Calibri"/>
              </a:rPr>
              <a:t>survey_dynamics · epipolar inconsistency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Second gated match pass, kept only if strictly better</a:t>
            </a:r>
          </a:p>
          <a:p>
            <a:pPr marL="228600" indent="-228600" algn="l"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No segmentation model and no manual masks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31C39283-15BE-47C0-AD36-080D1EA453EA}"/>
              </a:ext>
            </a:extLst>
          </p:cNvPr>
          <p:cNvSpPr/>
          <p:nvPr/>
        </p:nvSpPr>
        <p:spPr>
          <a:xfrm>
            <a:off x="590550" y="4095750"/>
            <a:ext cx="3362325" cy="2667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1F497D"/>
                </a:solidFill>
                <a:latin typeface="Calibri"/>
                <a:ea typeface="Calibri"/>
              </a:rPr>
              <a:t>4.85% pixels vetoed · error -7.8%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1F903C53-22F5-4EE3-8F11-42411560FE94}"/>
              </a:ext>
            </a:extLst>
          </p:cNvPr>
          <p:cNvSpPr/>
          <p:nvPr/>
        </p:nvSpPr>
        <p:spPr>
          <a:xfrm>
            <a:off x="4276725" y="3028950"/>
            <a:ext cx="3629025" cy="142875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16DF0378-522E-4A90-87F5-35DF5182D46D}"/>
              </a:ext>
            </a:extLst>
          </p:cNvPr>
          <p:cNvSpPr txBox="1"/>
          <p:nvPr/>
        </p:nvSpPr>
        <p:spPr>
          <a:xfrm>
            <a:off x="4410075" y="3143250"/>
            <a:ext cx="3362325" cy="914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Calibri"/>
                <a:ea typeface="Calibri"/>
              </a:rPr>
              <a:t>05  </a:t>
            </a:r>
            <a:r>
              <a:rPr sz="1400" b="1">
                <a:solidFill>
                  <a:srgbClr val="16233A"/>
                </a:solidFill>
                <a:latin typeface="Calibri"/>
                <a:ea typeface="Calibri"/>
              </a:rPr>
              <a:t>Dense geometry to mesh</a:t>
            </a:r>
          </a:p>
          <a:p>
            <a:pPr algn="l">
              <a:spcAft>
                <a:spcPts val="600"/>
              </a:spcAft>
            </a:pPr>
            <a:r>
              <a:rPr sz="950" i="1">
                <a:solidFill>
                  <a:srgbClr val="5A6B84"/>
                </a:solidFill>
                <a:latin typeface="Calibri"/>
                <a:ea typeface="Calibri"/>
              </a:rPr>
              <a:t>patch_match_stereo → fusion → Poisson  ·  GPU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Confidence-filtered depth, three cost profiles</a:t>
            </a:r>
          </a:p>
          <a:p>
            <a:pPr marL="228600" indent="-228600" algn="l"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2.33x faster stereo at P/R 0.95 / 0.94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A7BFAD10-5390-4831-B868-DD4CF256AE10}"/>
              </a:ext>
            </a:extLst>
          </p:cNvPr>
          <p:cNvSpPr/>
          <p:nvPr/>
        </p:nvSpPr>
        <p:spPr>
          <a:xfrm>
            <a:off x="4410075" y="4095750"/>
            <a:ext cx="3362325" cy="2667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1F497D"/>
                </a:solidFill>
                <a:latin typeface="Calibri"/>
                <a:ea typeface="Calibri"/>
              </a:rPr>
              <a:t>1.57 M measured points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327E18B1-707D-4B8E-AE12-97CBB333D24F}"/>
              </a:ext>
            </a:extLst>
          </p:cNvPr>
          <p:cNvSpPr/>
          <p:nvPr/>
        </p:nvSpPr>
        <p:spPr>
          <a:xfrm>
            <a:off x="8096250" y="3028950"/>
            <a:ext cx="3629025" cy="142875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57D9C5FA-3B55-4702-B28E-E24ED9ED79B6}"/>
              </a:ext>
            </a:extLst>
          </p:cNvPr>
          <p:cNvSpPr txBox="1"/>
          <p:nvPr/>
        </p:nvSpPr>
        <p:spPr>
          <a:xfrm>
            <a:off x="8229600" y="3143250"/>
            <a:ext cx="3362325" cy="9144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070C0"/>
                </a:solidFill>
                <a:latin typeface="Calibri"/>
                <a:ea typeface="Calibri"/>
              </a:rPr>
              <a:t>06  </a:t>
            </a:r>
            <a:r>
              <a:rPr sz="1400" b="1">
                <a:solidFill>
                  <a:srgbClr val="16233A"/>
                </a:solidFill>
                <a:latin typeface="Calibri"/>
                <a:ea typeface="Calibri"/>
              </a:rPr>
              <a:t>Georeference and deliver</a:t>
            </a:r>
          </a:p>
          <a:p>
            <a:pPr algn="l">
              <a:spcAft>
                <a:spcPts val="600"/>
              </a:spcAft>
            </a:pPr>
            <a:r>
              <a:rPr sz="950" i="1">
                <a:solidFill>
                  <a:srgbClr val="5A6B84"/>
                </a:solidFill>
                <a:latin typeface="Calibri"/>
                <a:ea typeface="Calibri"/>
              </a:rPr>
              <a:t>survey_georef + survey_deliver ledger</a:t>
            </a:r>
          </a:p>
          <a:p>
            <a:pPr marL="228600" indent="-228600" algn="l">
              <a:spcAft>
                <a:spcPts val="300"/>
              </a:spcAft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LAS and GeoTIFF re-read by GDAL / laspy or deleted</a:t>
            </a:r>
          </a:p>
          <a:p>
            <a:pPr marL="228600" indent="-228600" algn="l">
              <a:buChar char="•"/>
            </a:pPr>
            <a:r>
              <a:rPr sz="1000">
                <a:solidFill>
                  <a:srgbClr val="16233A"/>
                </a:solidFill>
                <a:latin typeface="Calibri"/>
                <a:ea typeface="Calibri"/>
              </a:rPr>
              <a:t>Measured, weak and unobserved kept separate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02CD4742-14DB-44FC-988B-45A686EDF9AA}"/>
              </a:ext>
            </a:extLst>
          </p:cNvPr>
          <p:cNvSpPr/>
          <p:nvPr/>
        </p:nvSpPr>
        <p:spPr>
          <a:xfrm>
            <a:off x="8229600" y="4095750"/>
            <a:ext cx="3362325" cy="2667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 b="1">
                <a:solidFill>
                  <a:srgbClr val="1F497D"/>
                </a:solidFill>
                <a:latin typeface="Calibri"/>
                <a:ea typeface="Calibri"/>
              </a:rPr>
              <a:t>EPSG:32643 · six official formats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097BB077-101D-47B9-8C69-6109053AD277}"/>
              </a:ext>
            </a:extLst>
          </p:cNvPr>
          <p:cNvSpPr/>
          <p:nvPr/>
        </p:nvSpPr>
        <p:spPr>
          <a:xfrm>
            <a:off x="4105275" y="2066925"/>
            <a:ext cx="152400" cy="190500"/>
          </a:xfrm>
          <a:prstGeom prst="chevron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702E0770-68D9-4BA1-916D-C700A5D0980D}"/>
              </a:ext>
            </a:extLst>
          </p:cNvPr>
          <p:cNvSpPr/>
          <p:nvPr/>
        </p:nvSpPr>
        <p:spPr>
          <a:xfrm>
            <a:off x="7924800" y="2066925"/>
            <a:ext cx="152400" cy="190500"/>
          </a:xfrm>
          <a:prstGeom prst="chevron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D6D5A6C4-D829-4040-B0BE-A06930D1BE5C}"/>
              </a:ext>
            </a:extLst>
          </p:cNvPr>
          <p:cNvSpPr/>
          <p:nvPr/>
        </p:nvSpPr>
        <p:spPr>
          <a:xfrm>
            <a:off x="4105275" y="3648075"/>
            <a:ext cx="152400" cy="190500"/>
          </a:xfrm>
          <a:prstGeom prst="chevron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Shape 32">
            <a:extLst>
              <a:ext uri="{FF2B5EF4-FFF2-40B4-BE49-F238E27FC236}">
                <a16:creationId xmlns:a16="http://schemas.microsoft.com/office/drawing/2014/main" id="{5140F2E4-4209-4328-83BF-100A043B2160}"/>
              </a:ext>
            </a:extLst>
          </p:cNvPr>
          <p:cNvSpPr/>
          <p:nvPr/>
        </p:nvSpPr>
        <p:spPr>
          <a:xfrm>
            <a:off x="7924800" y="3648075"/>
            <a:ext cx="152400" cy="190500"/>
          </a:xfrm>
          <a:prstGeom prst="chevron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42971EEB-0FEE-4F84-8325-4D0FC84A4CF3}"/>
              </a:ext>
            </a:extLst>
          </p:cNvPr>
          <p:cNvSpPr/>
          <p:nvPr/>
        </p:nvSpPr>
        <p:spPr>
          <a:xfrm>
            <a:off x="457200" y="4610100"/>
            <a:ext cx="6896100" cy="16764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7B2ACDF-9F43-40CE-8FA5-25AB6B45D028}"/>
              </a:ext>
            </a:extLst>
          </p:cNvPr>
          <p:cNvSpPr txBox="1"/>
          <p:nvPr/>
        </p:nvSpPr>
        <p:spPr>
          <a:xfrm>
            <a:off x="590550" y="4724400"/>
            <a:ext cx="66294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1F497D"/>
                </a:solidFill>
                <a:latin typeface="Calibri"/>
                <a:ea typeface="Calibri"/>
              </a:rPr>
              <a:t>TECHNOLOGIES USED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828E8330-A1DC-47DA-A63A-3ED5D634B64F}"/>
              </a:ext>
            </a:extLst>
          </p:cNvPr>
          <p:cNvSpPr txBox="1"/>
          <p:nvPr/>
        </p:nvSpPr>
        <p:spPr>
          <a:xfrm>
            <a:off x="590550" y="4953000"/>
            <a:ext cx="6629400" cy="12192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16233A"/>
                </a:solidFill>
                <a:latin typeface="Calibri"/>
                <a:ea typeface="Calibri"/>
              </a:rPr>
              <a:t>Language and runtime   </a:t>
            </a:r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Python 3.12 pipeline · Node 18 · OpenCV · ffmpeg · PyTorch 2.4.1+cu124</a:t>
            </a:r>
          </a:p>
          <a:p>
            <a:pPr algn="l">
              <a:spcAft>
                <a:spcPts val="500"/>
              </a:spcAft>
            </a:pPr>
            <a:r>
              <a:rPr sz="950" b="1">
                <a:solidFill>
                  <a:srgbClr val="16233A"/>
                </a:solidFill>
                <a:latin typeface="Calibri"/>
                <a:ea typeface="Calibri"/>
              </a:rPr>
              <a:t>Reconstruction   </a:t>
            </a:r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COLMAP 4.1.1 (mapper, patch-match stereo, Poisson mesher) · gsplat 1.5.3 for the optional splat view</a:t>
            </a:r>
          </a:p>
          <a:p>
            <a:pPr algn="l">
              <a:spcAft>
                <a:spcPts val="500"/>
              </a:spcAft>
            </a:pPr>
            <a:r>
              <a:rPr sz="950" b="1">
                <a:solidFill>
                  <a:srgbClr val="16233A"/>
                </a:solidFill>
                <a:latin typeface="Calibri"/>
                <a:ea typeface="Calibri"/>
              </a:rPr>
              <a:t>Geometry and GIS   </a:t>
            </a:r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PDAL · GDAL / Rasterio · pyproj · LAS 1.4 · GeoTIFF · EGM96 geoid for the vertical datum</a:t>
            </a:r>
          </a:p>
          <a:p>
            <a:pPr algn="l">
              <a:spcAft>
                <a:spcPts val="500"/>
              </a:spcAft>
            </a:pPr>
            <a:r>
              <a:rPr sz="950" b="1">
                <a:solidFill>
                  <a:srgbClr val="16233A"/>
                </a:solidFill>
                <a:latin typeface="Calibri"/>
                <a:ea typeface="Calibri"/>
              </a:rPr>
              <a:t>Delivery and viewer   </a:t>
            </a:r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OBJ · PLY · GLB/glTF · FBX · PlayCanvas with recast-navigation · Next.js mission console</a:t>
            </a:r>
          </a:p>
          <a:p>
            <a:pPr algn="l"/>
            <a:r>
              <a:rPr sz="950" b="1">
                <a:solidFill>
                  <a:srgbClr val="16233A"/>
                </a:solidFill>
                <a:latin typeface="Calibri"/>
                <a:ea typeface="Calibri"/>
              </a:rPr>
              <a:t>Hardware   </a:t>
            </a:r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Laptop RTX 3050 6 GB (measured) · RTX 4090 / A100 burst · Jetson Orin field target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621B3319-4579-4AEA-B950-9DA94E7BE07A}"/>
              </a:ext>
            </a:extLst>
          </p:cNvPr>
          <p:cNvSpPr txBox="1"/>
          <p:nvPr/>
        </p:nvSpPr>
        <p:spPr>
          <a:xfrm>
            <a:off x="7505700" y="4667250"/>
            <a:ext cx="42291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0070C0"/>
                </a:solidFill>
                <a:latin typeface="Calibri"/>
                <a:ea typeface="Calibri"/>
              </a:rPr>
              <a:t>WORKING PROTOTYPE: REAL OUTPUTS FROM A RUN</a:t>
            </a:r>
          </a:p>
        </p:txBody>
      </p:sp>
      <p:pic>
        <p:nvPicPr>
          <p:cNvPr id="37" name="Picture 37">
            <a:extLst>
              <a:ext uri="{FF2B5EF4-FFF2-40B4-BE49-F238E27FC236}">
                <a16:creationId xmlns:a16="http://schemas.microsoft.com/office/drawing/2014/main" id="{374FE2FB-25E9-45FD-AB67-4592543224E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505700" y="4895850"/>
            <a:ext cx="2019300" cy="1066800"/>
          </a:xfrm>
          <a:prstGeom prst="rect">
            <a:avLst/>
          </a:prstGeom>
        </p:spPr>
      </p:pic>
      <p:pic>
        <p:nvPicPr>
          <p:cNvPr id="38" name="Picture 38">
            <a:extLst>
              <a:ext uri="{FF2B5EF4-FFF2-40B4-BE49-F238E27FC236}">
                <a16:creationId xmlns:a16="http://schemas.microsoft.com/office/drawing/2014/main" id="{1657A6DA-70DC-4156-8E78-EC72EF31CD9F}"/>
              </a:ext>
            </a:extLst>
          </p:cNvPr>
          <p:cNvPicPr/>
          <p:nvPr/>
        </p:nvPicPr>
        <p:blipFill>
          <a:blip r:embed="rId5"/>
          <a:srcRect l="1732" r="1732"/>
          <a:stretch>
            <a:fillRect/>
          </a:stretch>
        </p:blipFill>
        <p:spPr>
          <a:xfrm>
            <a:off x="9715500" y="4895850"/>
            <a:ext cx="2019300" cy="1066800"/>
          </a:xfrm>
          <a:prstGeom prst="rect">
            <a:avLst/>
          </a:prstGeom>
        </p:spPr>
      </p:pic>
      <p:sp>
        <p:nvSpPr>
          <p:cNvPr id="39" name="TextBox 39">
            <a:extLst>
              <a:ext uri="{FF2B5EF4-FFF2-40B4-BE49-F238E27FC236}">
                <a16:creationId xmlns:a16="http://schemas.microsoft.com/office/drawing/2014/main" id="{C27C6108-44EB-47A6-965B-128477512A1F}"/>
              </a:ext>
            </a:extLst>
          </p:cNvPr>
          <p:cNvSpPr txBox="1"/>
          <p:nvPr/>
        </p:nvSpPr>
        <p:spPr>
          <a:xfrm>
            <a:off x="7505700" y="6000750"/>
            <a:ext cx="2019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5A6B84"/>
                </a:solidFill>
                <a:latin typeface="Calibri"/>
                <a:ea typeface="Calibri"/>
              </a:rPr>
              <a:t>Held-out frame from the source video</a:t>
            </a:r>
          </a:p>
        </p:txBody>
      </p:sp>
      <p:sp>
        <p:nvSpPr>
          <p:cNvPr id="40" name="TextBox 40">
            <a:extLst>
              <a:ext uri="{FF2B5EF4-FFF2-40B4-BE49-F238E27FC236}">
                <a16:creationId xmlns:a16="http://schemas.microsoft.com/office/drawing/2014/main" id="{EBABC3D8-A649-4339-B336-2DD6BE793510}"/>
              </a:ext>
            </a:extLst>
          </p:cNvPr>
          <p:cNvSpPr txBox="1"/>
          <p:nvPr/>
        </p:nvSpPr>
        <p:spPr>
          <a:xfrm>
            <a:off x="9715500" y="6000750"/>
            <a:ext cx="20193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900">
                <a:solidFill>
                  <a:srgbClr val="5A6B84"/>
                </a:solidFill>
                <a:latin typeface="Calibri"/>
                <a:ea typeface="Calibri"/>
              </a:rPr>
              <a:t>The same surface as a walkable collider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4F4F4198-F4A5-4AEC-8EC2-751BE2A20E2B}"/>
              </a:ext>
            </a:extLst>
          </p:cNvPr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F497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C0F09DA-A27C-4D27-8D4E-758B032F4BA6}"/>
              </a:ext>
            </a:extLst>
          </p:cNvPr>
          <p:cNvSpPr txBox="1"/>
          <p:nvPr/>
        </p:nvSpPr>
        <p:spPr>
          <a:xfrm>
            <a:off x="457200" y="655320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  <a:ea typeface="Calibri"/>
              </a:rPr>
              <a:t>SIH26158  ·  Single-Pass Drone Video to Accurate 3D Model Generation System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35A0206-9176-41F4-8343-2527356DA68B}"/>
              </a:ext>
            </a:extLst>
          </p:cNvPr>
          <p:cNvSpPr txBox="1"/>
          <p:nvPr/>
        </p:nvSpPr>
        <p:spPr>
          <a:xfrm>
            <a:off x="10668000" y="6553200"/>
            <a:ext cx="10668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04 / 06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D4F7196-5F77-44E2-B7CE-4A511784B2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715500" y="171450"/>
            <a:ext cx="2019300" cy="9525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AEA211D1-0095-4B72-B494-7B0ECF0D9066}"/>
              </a:ext>
            </a:extLst>
          </p:cNvPr>
          <p:cNvSpPr txBox="1"/>
          <p:nvPr/>
        </p:nvSpPr>
        <p:spPr>
          <a:xfrm>
            <a:off x="457200" y="2476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Calibri"/>
              </a:rPr>
              <a:t>FEASIBILITY AND VIABILITY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C99A37F-A5B5-4000-A069-26C38533F12E}"/>
              </a:ext>
            </a:extLst>
          </p:cNvPr>
          <p:cNvSpPr/>
          <p:nvPr/>
        </p:nvSpPr>
        <p:spPr>
          <a:xfrm>
            <a:off x="457200" y="742950"/>
            <a:ext cx="1143000" cy="38100"/>
          </a:xfrm>
          <a:prstGeom prst="rect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A62DF99-E82F-4F03-8E4A-E24291F66FC2}"/>
              </a:ext>
            </a:extLst>
          </p:cNvPr>
          <p:cNvSpPr txBox="1"/>
          <p:nvPr/>
        </p:nvSpPr>
        <p:spPr>
          <a:xfrm>
            <a:off x="457200" y="838200"/>
            <a:ext cx="8953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5A6B84"/>
                </a:solidFill>
                <a:latin typeface="Calibri"/>
                <a:ea typeface="Calibri"/>
              </a:rPr>
              <a:t>What already runs today, the four risks that can lose the score, and how each one is closed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47E5352-52CD-4F16-AFC1-F47E281BD952}"/>
              </a:ext>
            </a:extLst>
          </p:cNvPr>
          <p:cNvSpPr txBox="1"/>
          <p:nvPr/>
        </p:nvSpPr>
        <p:spPr>
          <a:xfrm>
            <a:off x="457200" y="120015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0070C0"/>
                </a:solidFill>
                <a:latin typeface="Calibri"/>
                <a:ea typeface="Calibri"/>
              </a:rPr>
              <a:t>ANALYSIS OF FEASIBILITY - EVIDENCE FROM COMPLETED RUNS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B3DB4CAB-BFBE-436A-85DA-4F2A14761911}"/>
              </a:ext>
            </a:extLst>
          </p:cNvPr>
          <p:cNvSpPr/>
          <p:nvPr/>
        </p:nvSpPr>
        <p:spPr>
          <a:xfrm>
            <a:off x="457200" y="1428750"/>
            <a:ext cx="2705100" cy="81915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Calibri"/>
              </a:rPr>
              <a:t>End-to-end</a:t>
            </a:r>
          </a:p>
          <a:p>
            <a:pPr algn="ctr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one command, CPU-orchestrated, GPU explicit and gated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4EB04A6-CA62-4EEC-92EB-900FE64DB0E3}"/>
              </a:ext>
            </a:extLst>
          </p:cNvPr>
          <p:cNvSpPr/>
          <p:nvPr/>
        </p:nvSpPr>
        <p:spPr>
          <a:xfrm>
            <a:off x="3314700" y="1428750"/>
            <a:ext cx="2705100" cy="81915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Calibri"/>
              </a:rPr>
              <a:t>287/287 cameras</a:t>
            </a:r>
          </a:p>
          <a:p>
            <a:pPr algn="ctr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1.57 M points delivered with EPSG:32643 on a real take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7F4726D-7727-4BBB-94F6-A9446C179A8A}"/>
              </a:ext>
            </a:extLst>
          </p:cNvPr>
          <p:cNvSpPr/>
          <p:nvPr/>
        </p:nvSpPr>
        <p:spPr>
          <a:xfrm>
            <a:off x="6172200" y="1428750"/>
            <a:ext cx="2705100" cy="81915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Calibri"/>
              </a:rPr>
              <a:t>663 CPU tests</a:t>
            </a:r>
          </a:p>
          <a:p>
            <a:pPr algn="ctr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green; every LAS and GeoTIFF re-read by laspy and GDAL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6737998-42A5-4556-AD98-F29E0E7548BA}"/>
              </a:ext>
            </a:extLst>
          </p:cNvPr>
          <p:cNvSpPr/>
          <p:nvPr/>
        </p:nvSpPr>
        <p:spPr>
          <a:xfrm>
            <a:off x="9029700" y="1428750"/>
            <a:ext cx="2705100" cy="81915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F497D"/>
                </a:solidFill>
                <a:latin typeface="Calibri"/>
                <a:ea typeface="Calibri"/>
              </a:rPr>
              <a:t>1 km² / 25.6 s</a:t>
            </a:r>
          </a:p>
          <a:p>
            <a:pPr algn="ctr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terrain pass over 3 M points, 100% ground recall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6BBC51E-9069-4E1B-8D82-F7B24DEFD0FC}"/>
              </a:ext>
            </a:extLst>
          </p:cNvPr>
          <p:cNvSpPr txBox="1"/>
          <p:nvPr/>
        </p:nvSpPr>
        <p:spPr>
          <a:xfrm>
            <a:off x="457200" y="240030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0070C0"/>
                </a:solidFill>
                <a:latin typeface="Calibri"/>
                <a:ea typeface="Calibri"/>
              </a:rPr>
              <a:t>POTENTIAL CHALLENGES AND RISKS  →  STRATEGIES FOR OVERCOMING THEM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5CF1E5B0-E979-4F79-A323-33ED2079928E}"/>
              </a:ext>
            </a:extLst>
          </p:cNvPr>
          <p:cNvSpPr/>
          <p:nvPr/>
        </p:nvSpPr>
        <p:spPr>
          <a:xfrm>
            <a:off x="457200" y="2628900"/>
            <a:ext cx="4953000" cy="62865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D0B4875-5522-4E4E-84DA-96A1D9D6FBD3}"/>
              </a:ext>
            </a:extLst>
          </p:cNvPr>
          <p:cNvSpPr txBox="1"/>
          <p:nvPr/>
        </p:nvSpPr>
        <p:spPr>
          <a:xfrm>
            <a:off x="590550" y="2705100"/>
            <a:ext cx="4686300" cy="476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33A"/>
                </a:solidFill>
                <a:latin typeface="Calibri"/>
                <a:ea typeface="Calibri"/>
              </a:rPr>
              <a:t>Speed against the 15-minute gate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A 10-minute take implies ~270 keyframes and ~1,800 s of dense work - projected, not yet run.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683C5AF2-B736-4664-8758-ED3DBE581C1F}"/>
              </a:ext>
            </a:extLst>
          </p:cNvPr>
          <p:cNvSpPr/>
          <p:nvPr/>
        </p:nvSpPr>
        <p:spPr>
          <a:xfrm>
            <a:off x="5467350" y="2857500"/>
            <a:ext cx="209550" cy="171450"/>
          </a:xfrm>
          <a:prstGeom prst="rightArrow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7A3F0D85-E2C6-4FF3-BE37-CFF999DF04C5}"/>
              </a:ext>
            </a:extLst>
          </p:cNvPr>
          <p:cNvSpPr/>
          <p:nvPr/>
        </p:nvSpPr>
        <p:spPr>
          <a:xfrm>
            <a:off x="5734050" y="2628900"/>
            <a:ext cx="6000750" cy="62865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DCBC511-4037-41E4-88AB-862B10D9FB2C}"/>
              </a:ext>
            </a:extLst>
          </p:cNvPr>
          <p:cNvSpPr txBox="1"/>
          <p:nvPr/>
        </p:nvSpPr>
        <p:spPr>
          <a:xfrm>
            <a:off x="5867400" y="2705100"/>
            <a:ext cx="5734050" cy="4762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Cut redundant work, never quality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Baseline-aware thinning 288→68, windowed submaps, stereo ablation already 2.33x faster, splat branch optional.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9EA7C920-9A81-486A-B213-1F091BA5F3AE}"/>
              </a:ext>
            </a:extLst>
          </p:cNvPr>
          <p:cNvSpPr/>
          <p:nvPr/>
        </p:nvSpPr>
        <p:spPr>
          <a:xfrm>
            <a:off x="457200" y="3371850"/>
            <a:ext cx="4953000" cy="62865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CF70F98-8FB6-4792-B87E-C74B1B87BD67}"/>
              </a:ext>
            </a:extLst>
          </p:cNvPr>
          <p:cNvSpPr txBox="1"/>
          <p:nvPr/>
        </p:nvSpPr>
        <p:spPr>
          <a:xfrm>
            <a:off x="590550" y="3448050"/>
            <a:ext cx="46863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33A"/>
                </a:solidFill>
                <a:latin typeface="Calibri"/>
                <a:ea typeface="Calibri"/>
              </a:rPr>
              <a:t>Absolute accuracy without surveyed control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Consumer GNSS is ±1-3 m; our 1.14 m hold-out was measured against a drifting phone-VIO track.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20F04052-A438-42A6-AB16-25B47B9181B9}"/>
              </a:ext>
            </a:extLst>
          </p:cNvPr>
          <p:cNvSpPr/>
          <p:nvPr/>
        </p:nvSpPr>
        <p:spPr>
          <a:xfrm>
            <a:off x="5467350" y="3600450"/>
            <a:ext cx="209550" cy="171450"/>
          </a:xfrm>
          <a:prstGeom prst="rightArrow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E948339F-07BF-466A-A710-EE71E29EB25B}"/>
              </a:ext>
            </a:extLst>
          </p:cNvPr>
          <p:cNvSpPr/>
          <p:nvPr/>
        </p:nvSpPr>
        <p:spPr>
          <a:xfrm>
            <a:off x="5734050" y="3371850"/>
            <a:ext cx="6000750" cy="62865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32003140-ABBD-41A8-8FAC-DBA4AF92D499}"/>
              </a:ext>
            </a:extLst>
          </p:cNvPr>
          <p:cNvSpPr txBox="1"/>
          <p:nvPr/>
        </p:nvSpPr>
        <p:spPr>
          <a:xfrm>
            <a:off x="5867400" y="3448050"/>
            <a:ext cx="573405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Independent reference before any accuracy claim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Fit Sim(3) to withheld surveyed checkpoints or RTK on the supplied dataset; EGM96 geoid for height; publish residuals per point.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E70AD26C-F7C3-4B6C-AF30-44059DA8B89A}"/>
              </a:ext>
            </a:extLst>
          </p:cNvPr>
          <p:cNvSpPr/>
          <p:nvPr/>
        </p:nvSpPr>
        <p:spPr>
          <a:xfrm>
            <a:off x="457200" y="4114800"/>
            <a:ext cx="4953000" cy="62865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ADDD3CB4-52CD-4C02-B6D1-AF073B76EC21}"/>
              </a:ext>
            </a:extLst>
          </p:cNvPr>
          <p:cNvSpPr txBox="1"/>
          <p:nvPr/>
        </p:nvSpPr>
        <p:spPr>
          <a:xfrm>
            <a:off x="590550" y="4191000"/>
            <a:ext cx="46863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33A"/>
                </a:solidFill>
                <a:latin typeface="Calibri"/>
                <a:ea typeface="Calibri"/>
              </a:rPr>
              <a:t>Completeness, and geometry that is not really there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Occluded and textureless faces stay empty; in one scene cloud and fog rebuilt as solid ground (28% of it).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5B2C895E-FD62-4A58-88BA-F3705D7EDFEC}"/>
              </a:ext>
            </a:extLst>
          </p:cNvPr>
          <p:cNvSpPr/>
          <p:nvPr/>
        </p:nvSpPr>
        <p:spPr>
          <a:xfrm>
            <a:off x="5467350" y="4343400"/>
            <a:ext cx="209550" cy="171450"/>
          </a:xfrm>
          <a:prstGeom prst="rightArrow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F64CB2B1-3792-4803-81C8-5EE91C0CC0F2}"/>
              </a:ext>
            </a:extLst>
          </p:cNvPr>
          <p:cNvSpPr/>
          <p:nvPr/>
        </p:nvSpPr>
        <p:spPr>
          <a:xfrm>
            <a:off x="5734050" y="4114800"/>
            <a:ext cx="6000750" cy="62865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695B07B-3981-41E0-B23D-23A4CE992C0E}"/>
              </a:ext>
            </a:extLst>
          </p:cNvPr>
          <p:cNvSpPr txBox="1"/>
          <p:nvPr/>
        </p:nvSpPr>
        <p:spPr>
          <a:xfrm>
            <a:off x="5867400" y="4191000"/>
            <a:ext cx="573405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Report the gap instead of inventing the surface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Visibility ray-check plus per-point evidence, sky and cloud cull, measured / weak / unobserved kept as three separate classes.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72C10A29-5233-4CC5-9173-497293124509}"/>
              </a:ext>
            </a:extLst>
          </p:cNvPr>
          <p:cNvSpPr/>
          <p:nvPr/>
        </p:nvSpPr>
        <p:spPr>
          <a:xfrm>
            <a:off x="457200" y="4857750"/>
            <a:ext cx="4953000" cy="62865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8EA73D61-548A-4BF0-B19C-740F192C8C45}"/>
              </a:ext>
            </a:extLst>
          </p:cNvPr>
          <p:cNvSpPr txBox="1"/>
          <p:nvPr/>
        </p:nvSpPr>
        <p:spPr>
          <a:xfrm>
            <a:off x="590550" y="4933950"/>
            <a:ext cx="468630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6233A"/>
                </a:solidFill>
                <a:latin typeface="Calibri"/>
                <a:ea typeface="Calibri"/>
              </a:rPr>
              <a:t>Data, licensing and scope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No compliant 1080p drone+GPS clip yet; VGGT-family terms bar defence use; UrbanScene3D and ETH3D are non-commercial.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222229E0-39A7-480A-BCFD-C494E93B90E4}"/>
              </a:ext>
            </a:extLst>
          </p:cNvPr>
          <p:cNvSpPr/>
          <p:nvPr/>
        </p:nvSpPr>
        <p:spPr>
          <a:xfrm>
            <a:off x="5467350" y="5086350"/>
            <a:ext cx="209550" cy="171450"/>
          </a:xfrm>
          <a:prstGeom prst="rightArrow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B4F8F72D-8776-4CF6-8572-B4535ED9A43F}"/>
              </a:ext>
            </a:extLst>
          </p:cNvPr>
          <p:cNvSpPr/>
          <p:nvPr/>
        </p:nvSpPr>
        <p:spPr>
          <a:xfrm>
            <a:off x="5734050" y="4857750"/>
            <a:ext cx="6000750" cy="62865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B8E0A8DF-F429-4060-923E-BE5847778239}"/>
              </a:ext>
            </a:extLst>
          </p:cNvPr>
          <p:cNvSpPr txBox="1"/>
          <p:nvPr/>
        </p:nvSpPr>
        <p:spPr>
          <a:xfrm>
            <a:off x="5867400" y="4933950"/>
            <a:ext cx="5734050" cy="4953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Clean dependency stack, own the flight data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BSD / Apache / MIT runtime only (COLMAP, gsplat, PDAL, GDAL, Open3D); own controlled recording; semantics behind a swappable plug-in.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3B2AA4E2-AE6B-4550-80FE-98BB8D757A3C}"/>
              </a:ext>
            </a:extLst>
          </p:cNvPr>
          <p:cNvSpPr txBox="1"/>
          <p:nvPr/>
        </p:nvSpPr>
        <p:spPr>
          <a:xfrm>
            <a:off x="457200" y="563880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0070C0"/>
                </a:solidFill>
                <a:latin typeface="Calibri"/>
                <a:ea typeface="Calibri"/>
              </a:rPr>
              <a:t>VALIDATION PLAN BEFORE SUBMISSION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BA7B6AE4-B717-4DF7-81D3-0A686DE1372C}"/>
              </a:ext>
            </a:extLst>
          </p:cNvPr>
          <p:cNvSpPr/>
          <p:nvPr/>
        </p:nvSpPr>
        <p:spPr>
          <a:xfrm>
            <a:off x="457200" y="5848350"/>
            <a:ext cx="2705100" cy="419100"/>
          </a:xfrm>
          <a:prstGeom prst="roundRect">
            <a:avLst/>
          </a:prstGeom>
          <a:solidFill>
            <a:srgbClr val="1F497D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  <a:ea typeface="Calibri"/>
              </a:rPr>
              <a:t>1  Bench on the dataset supplied at the event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D0DE8A40-F57F-4949-B02E-ACFFF2D18B6A}"/>
              </a:ext>
            </a:extLst>
          </p:cNvPr>
          <p:cNvSpPr/>
          <p:nvPr/>
        </p:nvSpPr>
        <p:spPr>
          <a:xfrm>
            <a:off x="3314700" y="5848350"/>
            <a:ext cx="2705100" cy="419100"/>
          </a:xfrm>
          <a:prstGeom prst="roundRect">
            <a:avLst/>
          </a:prstGeom>
          <a:solidFill>
            <a:srgbClr val="1F497D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  <a:ea typeface="Calibri"/>
              </a:rPr>
              <a:t>2  Withhold surveyed checkpoints from the solve</a:t>
            </a: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6EAB05B1-AC70-456F-A94D-92C276BBC0EB}"/>
              </a:ext>
            </a:extLst>
          </p:cNvPr>
          <p:cNvSpPr/>
          <p:nvPr/>
        </p:nvSpPr>
        <p:spPr>
          <a:xfrm>
            <a:off x="6172200" y="5848350"/>
            <a:ext cx="2705100" cy="419100"/>
          </a:xfrm>
          <a:prstGeom prst="roundRect">
            <a:avLst/>
          </a:prstGeom>
          <a:solidFill>
            <a:srgbClr val="1F497D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  <a:ea typeface="Calibri"/>
              </a:rPr>
              <a:t>3  Timed 10-minute run, all six formats written</a:t>
            </a: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370366BF-33C3-4FF4-9F97-A96C7098694B}"/>
              </a:ext>
            </a:extLst>
          </p:cNvPr>
          <p:cNvSpPr/>
          <p:nvPr/>
        </p:nvSpPr>
        <p:spPr>
          <a:xfrm>
            <a:off x="9029700" y="5848350"/>
            <a:ext cx="2705100" cy="419100"/>
          </a:xfrm>
          <a:prstGeom prst="roundRect">
            <a:avLst/>
          </a:prstGeom>
          <a:solidFill>
            <a:srgbClr val="1F497D"/>
          </a:solidFill>
        </p:spPr>
        <p:txBody>
          <a:bodyPr wrap="square" rtlCol="0" lIns="0" tIns="0" rIns="0" bIns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Calibri"/>
                <a:ea typeface="Calibri"/>
              </a:rPr>
              <a:t>4  Third-party CRS and format audit of the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1F68DCC-9E89-484D-8850-B9C18B86AF4E}"/>
              </a:ext>
            </a:extLst>
          </p:cNvPr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F497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4F968D5-E849-40F4-ADE9-6A716A7FED9F}"/>
              </a:ext>
            </a:extLst>
          </p:cNvPr>
          <p:cNvSpPr txBox="1"/>
          <p:nvPr/>
        </p:nvSpPr>
        <p:spPr>
          <a:xfrm>
            <a:off x="457200" y="655320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  <a:ea typeface="Calibri"/>
              </a:rPr>
              <a:t>SIH26158  ·  Single-Pass Drone Video to Accurate 3D Model Generation System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B56DA4E-1021-423B-AA01-FE05EC9CD428}"/>
              </a:ext>
            </a:extLst>
          </p:cNvPr>
          <p:cNvSpPr txBox="1"/>
          <p:nvPr/>
        </p:nvSpPr>
        <p:spPr>
          <a:xfrm>
            <a:off x="10668000" y="6553200"/>
            <a:ext cx="10668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05 / 06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0AC3E0F-EA34-4417-8200-3BC8BDFF5CF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715500" y="171450"/>
            <a:ext cx="2019300" cy="9525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C4EAD8A3-66F7-4369-AA72-3E44679BA453}"/>
              </a:ext>
            </a:extLst>
          </p:cNvPr>
          <p:cNvSpPr txBox="1"/>
          <p:nvPr/>
        </p:nvSpPr>
        <p:spPr>
          <a:xfrm>
            <a:off x="457200" y="2476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Calibri"/>
              </a:rPr>
              <a:t>IMPACT AND BENEFITS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E43CF13-4BCA-4AB6-A4D7-25444F86EDD4}"/>
              </a:ext>
            </a:extLst>
          </p:cNvPr>
          <p:cNvSpPr/>
          <p:nvPr/>
        </p:nvSpPr>
        <p:spPr>
          <a:xfrm>
            <a:off x="457200" y="742950"/>
            <a:ext cx="1143000" cy="38100"/>
          </a:xfrm>
          <a:prstGeom prst="rect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F244584-C6FA-419F-B34C-0025FF95C3F4}"/>
              </a:ext>
            </a:extLst>
          </p:cNvPr>
          <p:cNvSpPr txBox="1"/>
          <p:nvPr/>
        </p:nvSpPr>
        <p:spPr>
          <a:xfrm>
            <a:off x="457200" y="838200"/>
            <a:ext cx="8953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5A6B84"/>
                </a:solidFill>
                <a:latin typeface="Calibri"/>
                <a:ea typeface="Calibri"/>
              </a:rPr>
              <a:t>Who the output serves, what changes for them, and how the system scales after the hackathon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C011C94-555C-4685-9BFB-6AC8351C575F}"/>
              </a:ext>
            </a:extLst>
          </p:cNvPr>
          <p:cNvSpPr txBox="1"/>
          <p:nvPr/>
        </p:nvSpPr>
        <p:spPr>
          <a:xfrm>
            <a:off x="457200" y="120015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0070C0"/>
                </a:solidFill>
                <a:latin typeface="Calibri"/>
                <a:ea typeface="Calibri"/>
              </a:rPr>
              <a:t>POTENTIAL IMPACT ON THE TARGET AUDIENCE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6D19B2C-6EC1-42D1-A85C-7CFD1D021AB5}"/>
              </a:ext>
            </a:extLst>
          </p:cNvPr>
          <p:cNvSpPr txBox="1"/>
          <p:nvPr/>
        </p:nvSpPr>
        <p:spPr>
          <a:xfrm>
            <a:off x="8553450" y="1200150"/>
            <a:ext cx="318135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0070C0"/>
                </a:solidFill>
                <a:latin typeface="Calibri"/>
                <a:ea typeface="Calibri"/>
              </a:rPr>
              <a:t>AGAINST THE STATUS QUO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D4982A1-2453-413B-8D82-4ED88493D5B6}"/>
              </a:ext>
            </a:extLst>
          </p:cNvPr>
          <p:cNvSpPr/>
          <p:nvPr/>
        </p:nvSpPr>
        <p:spPr>
          <a:xfrm>
            <a:off x="457200" y="1428750"/>
            <a:ext cx="2533650" cy="7239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 lIns="0" tIns="0" rIns="0" bIns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497D"/>
                </a:solidFill>
                <a:latin typeface="Calibri"/>
                <a:ea typeface="Calibri"/>
              </a:rPr>
              <a:t>Disaster response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a usable model of a collapsed block before teams move in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D3FB0C9B-9421-491E-BB15-CA1C88F00EB1}"/>
              </a:ext>
            </a:extLst>
          </p:cNvPr>
          <p:cNvSpPr/>
          <p:nvPr/>
        </p:nvSpPr>
        <p:spPr>
          <a:xfrm>
            <a:off x="3143250" y="1428750"/>
            <a:ext cx="2533650" cy="7239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 lIns="0" tIns="0" rIns="0" bIns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497D"/>
                </a:solidFill>
                <a:latin typeface="Calibri"/>
                <a:ea typeface="Calibri"/>
              </a:rPr>
              <a:t>Border and field rehearsal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route and terrain check from one ordinary flight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1217D7E-EF95-47D2-994A-CCC317FDB19D}"/>
              </a:ext>
            </a:extLst>
          </p:cNvPr>
          <p:cNvSpPr/>
          <p:nvPr/>
        </p:nvSpPr>
        <p:spPr>
          <a:xfrm>
            <a:off x="5829300" y="1428750"/>
            <a:ext cx="2533650" cy="7239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 lIns="0" tIns="0" rIns="0" bIns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497D"/>
                </a:solidFill>
                <a:latin typeface="Calibri"/>
                <a:ea typeface="Calibri"/>
              </a:rPr>
              <a:t>Construction progress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repeat capture, measurable against the design model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A49E5B33-F73E-42DD-B2CC-A762A64CA3F3}"/>
              </a:ext>
            </a:extLst>
          </p:cNvPr>
          <p:cNvSpPr/>
          <p:nvPr/>
        </p:nvSpPr>
        <p:spPr>
          <a:xfrm>
            <a:off x="457200" y="2266950"/>
            <a:ext cx="2533650" cy="7239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 lIns="0" tIns="0" rIns="0" bIns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497D"/>
                </a:solidFill>
                <a:latin typeface="Calibri"/>
                <a:ea typeface="Calibri"/>
              </a:rPr>
              <a:t>Utility corridors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georeferenced assets without a crew on the ground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43A3B0C4-5328-48AD-9537-7DD90A70B2E3}"/>
              </a:ext>
            </a:extLst>
          </p:cNvPr>
          <p:cNvSpPr/>
          <p:nvPr/>
        </p:nvSpPr>
        <p:spPr>
          <a:xfrm>
            <a:off x="3143250" y="2266950"/>
            <a:ext cx="2533650" cy="7239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 lIns="0" tIns="0" rIns="0" bIns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497D"/>
                </a:solidFill>
                <a:latin typeface="Calibri"/>
                <a:ea typeface="Calibri"/>
              </a:rPr>
              <a:t>Urban planning and GIS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outputs that drop into QGIS, CAD and web maps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6383ACDC-75DC-4B5A-907D-42C40E28C64B}"/>
              </a:ext>
            </a:extLst>
          </p:cNvPr>
          <p:cNvSpPr/>
          <p:nvPr/>
        </p:nvSpPr>
        <p:spPr>
          <a:xfrm>
            <a:off x="5829300" y="2266950"/>
            <a:ext cx="2533650" cy="7239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 lIns="0" tIns="0" rIns="0" bIns="0" anchor="ctr"/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1F497D"/>
                </a:solidFill>
                <a:latin typeface="Calibri"/>
                <a:ea typeface="Calibri"/>
              </a:rPr>
              <a:t>Heritage and archaeology</a:t>
            </a:r>
          </a:p>
          <a:p>
            <a:pPr algn="l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a metric record of a site from one phone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720D112C-F4F7-4B7D-97C7-F6316F0996B3}"/>
              </a:ext>
            </a:extLst>
          </p:cNvPr>
          <p:cNvSpPr/>
          <p:nvPr/>
        </p:nvSpPr>
        <p:spPr>
          <a:xfrm>
            <a:off x="8553450" y="1428750"/>
            <a:ext cx="3181350" cy="15621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2D3305F-C92E-4885-94A2-F5A28EA0D782}"/>
              </a:ext>
            </a:extLst>
          </p:cNvPr>
          <p:cNvSpPr txBox="1"/>
          <p:nvPr/>
        </p:nvSpPr>
        <p:spPr>
          <a:xfrm>
            <a:off x="8686800" y="1562100"/>
            <a:ext cx="2914650" cy="1295400"/>
          </a:xfrm>
        </p:spPr>
        <p:txBody>
          <a:bodyPr wrap="square" rtlCol="0" lIns="0" tIns="0" rIns="0" bIns="0" anchor="t"/>
          <a:lstStyle/>
          <a:p>
            <a:pPr marL="228600" indent="-228600" algn="l">
              <a:spcAft>
                <a:spcPts val="500"/>
              </a:spcAft>
              <a:buChar char="•"/>
            </a:pPr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LiDAR survey: crew, kit, days per site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Photogrammetry suites: multi-pass, per-seat licence, nothing walkable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Manual CAD: weeks of draughting per structure</a:t>
            </a:r>
          </a:p>
          <a:p>
            <a:pPr marL="228600" indent="-228600" algn="l">
              <a:buChar char="•"/>
            </a:pPr>
            <a:r>
              <a:rPr sz="950" b="1">
                <a:solidFill>
                  <a:srgbClr val="1F497D"/>
                </a:solidFill>
                <a:latin typeface="Calibri"/>
                <a:ea typeface="Calibri"/>
              </a:rPr>
              <a:t>Drone3D: one pass, one solve, six formats, audited per point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9C2BB188-2FA6-486B-8796-1F3B7D76249B}"/>
              </a:ext>
            </a:extLst>
          </p:cNvPr>
          <p:cNvSpPr txBox="1"/>
          <p:nvPr/>
        </p:nvSpPr>
        <p:spPr>
          <a:xfrm>
            <a:off x="457200" y="314325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0070C0"/>
                </a:solidFill>
                <a:latin typeface="Calibri"/>
                <a:ea typeface="Calibri"/>
              </a:rPr>
              <a:t>BENEFITS OF THE SOLUTION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6911E3E6-DEC6-4572-BA25-E90010ED53F6}"/>
              </a:ext>
            </a:extLst>
          </p:cNvPr>
          <p:cNvSpPr/>
          <p:nvPr/>
        </p:nvSpPr>
        <p:spPr>
          <a:xfrm>
            <a:off x="457200" y="3371850"/>
            <a:ext cx="3629025" cy="13335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C3B8246C-4304-4E4E-B19A-2EA162DF6174}"/>
              </a:ext>
            </a:extLst>
          </p:cNvPr>
          <p:cNvSpPr txBox="1"/>
          <p:nvPr/>
        </p:nvSpPr>
        <p:spPr>
          <a:xfrm>
            <a:off x="590550" y="3505200"/>
            <a:ext cx="3362325" cy="1066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F497D"/>
                </a:solidFill>
                <a:latin typeface="Calibri"/>
                <a:ea typeface="Calibri"/>
              </a:rPr>
              <a:t>SOCIAL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One operator replaces a survey crew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Decisions on a metric model, not a shaky video</a:t>
            </a:r>
          </a:p>
          <a:p>
            <a:pPr marL="228600" indent="-228600" algn="l"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Auditable: the model states what it never saw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1F2FC90F-6E46-4CCB-B383-BC60B76366FB}"/>
              </a:ext>
            </a:extLst>
          </p:cNvPr>
          <p:cNvSpPr/>
          <p:nvPr/>
        </p:nvSpPr>
        <p:spPr>
          <a:xfrm>
            <a:off x="4276725" y="3371850"/>
            <a:ext cx="3629025" cy="13335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1C90EC3-6092-4307-BDF7-EE3B203C8342}"/>
              </a:ext>
            </a:extLst>
          </p:cNvPr>
          <p:cNvSpPr txBox="1"/>
          <p:nvPr/>
        </p:nvSpPr>
        <p:spPr>
          <a:xfrm>
            <a:off x="4410075" y="3505200"/>
            <a:ext cx="3362325" cy="1066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F497D"/>
                </a:solidFill>
                <a:latin typeface="Calibri"/>
                <a:ea typeface="Calibri"/>
              </a:rPr>
              <a:t>ECONOMIC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No LiDAR purchase, no per-seat photogrammetry licence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Laptop-class hardware: 6 GB measured, 443 MiB dense peak</a:t>
            </a:r>
          </a:p>
          <a:p>
            <a:pPr marL="228600" indent="-228600" algn="l"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Open formats remove re-modelling cost downstream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68435315-814B-42B7-8615-F3391C8E0C91}"/>
              </a:ext>
            </a:extLst>
          </p:cNvPr>
          <p:cNvSpPr/>
          <p:nvPr/>
        </p:nvSpPr>
        <p:spPr>
          <a:xfrm>
            <a:off x="8096250" y="3371850"/>
            <a:ext cx="3629025" cy="13335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5A64E6EA-554B-4C65-B116-05410339B7C3}"/>
              </a:ext>
            </a:extLst>
          </p:cNvPr>
          <p:cNvSpPr txBox="1"/>
          <p:nvPr/>
        </p:nvSpPr>
        <p:spPr>
          <a:xfrm>
            <a:off x="8229600" y="3505200"/>
            <a:ext cx="3362325" cy="1066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1F497D"/>
                </a:solidFill>
                <a:latin typeface="Calibri"/>
                <a:ea typeface="Calibri"/>
              </a:rPr>
              <a:t>ENVIRONMENTAL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No ground crew driven into fragile or unsafe terrain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Cheap repeat capture replaces one-off heavy surveys</a:t>
            </a:r>
          </a:p>
          <a:p>
            <a:pPr marL="228600" indent="-228600" algn="l"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Open formats keep public data readable for decades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1FDB861-8ED9-4656-9E95-47538A63F53E}"/>
              </a:ext>
            </a:extLst>
          </p:cNvPr>
          <p:cNvSpPr txBox="1"/>
          <p:nvPr/>
        </p:nvSpPr>
        <p:spPr>
          <a:xfrm>
            <a:off x="457200" y="4857750"/>
            <a:ext cx="66675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50" b="1">
                <a:solidFill>
                  <a:srgbClr val="0070C0"/>
                </a:solidFill>
                <a:latin typeface="Calibri"/>
                <a:ea typeface="Calibri"/>
              </a:rPr>
              <a:t>SCALABILITY AND DEPLOYMENT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857A55BF-3F49-4D1A-950E-DB3540A8EF77}"/>
              </a:ext>
            </a:extLst>
          </p:cNvPr>
          <p:cNvSpPr/>
          <p:nvPr/>
        </p:nvSpPr>
        <p:spPr>
          <a:xfrm>
            <a:off x="457200" y="5086350"/>
            <a:ext cx="2705100" cy="6096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Tiled and bounded</a:t>
            </a:r>
          </a:p>
          <a:p>
            <a:pPr algn="ctr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windowed submaps keep large scenes inside 6 GB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FF9ECA3A-D3EE-48AB-A21F-055C69DC7DC4}"/>
              </a:ext>
            </a:extLst>
          </p:cNvPr>
          <p:cNvSpPr/>
          <p:nvPr/>
        </p:nvSpPr>
        <p:spPr>
          <a:xfrm>
            <a:off x="3314700" y="5086350"/>
            <a:ext cx="2705100" cy="6096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Burst to cloud</a:t>
            </a:r>
          </a:p>
          <a:p>
            <a:pPr algn="ctr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same stages on 4090 or A100, backend switch only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41388A94-85D3-4C86-A47C-32F3967B966A}"/>
              </a:ext>
            </a:extLst>
          </p:cNvPr>
          <p:cNvSpPr/>
          <p:nvPr/>
        </p:nvSpPr>
        <p:spPr>
          <a:xfrm>
            <a:off x="6172200" y="5086350"/>
            <a:ext cx="2705100" cy="6096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Edge field target</a:t>
            </a:r>
          </a:p>
          <a:p>
            <a:pPr algn="ctr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Jetson Orin class deployment on the roadmap</a:t>
            </a:r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AD91C236-A922-4B5F-94A7-5E019E4DFC73}"/>
              </a:ext>
            </a:extLst>
          </p:cNvPr>
          <p:cNvSpPr/>
          <p:nvPr/>
        </p:nvSpPr>
        <p:spPr>
          <a:xfrm>
            <a:off x="9029700" y="5086350"/>
            <a:ext cx="2705100" cy="60960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 lIns="0" tIns="0" rIns="0" bIns="0" anchor="ctr"/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No licence wall</a:t>
            </a:r>
          </a:p>
          <a:p>
            <a:pPr algn="ctr"/>
            <a:r>
              <a:rPr sz="950">
                <a:solidFill>
                  <a:srgbClr val="5A6B84"/>
                </a:solidFill>
                <a:latin typeface="Calibri"/>
                <a:ea typeface="Calibri"/>
              </a:rPr>
              <a:t>browser viewer, open formats, no per-seat cost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FFCDE317-B50B-4DBC-9781-20FF7AC81729}"/>
              </a:ext>
            </a:extLst>
          </p:cNvPr>
          <p:cNvSpPr txBox="1"/>
          <p:nvPr/>
        </p:nvSpPr>
        <p:spPr>
          <a:xfrm>
            <a:off x="457200" y="5886450"/>
            <a:ext cx="112776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000" i="1">
                <a:solidFill>
                  <a:srgbClr val="5A6B84"/>
                </a:solidFill>
                <a:latin typeface="Calibri"/>
                <a:ea typeface="Calibri"/>
              </a:rPr>
              <a:t>Measured reach today: a 1 km² terrain pass over 3 M points in 25.6 s, and a 65.3 m walk over the reconstructed collider at 16/16 waypoints with no falls.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569C01A-3BF7-4621-8C11-74F5982CC3A8}"/>
              </a:ext>
            </a:extLst>
          </p:cNvPr>
          <p:cNvSpPr/>
          <p:nvPr/>
        </p:nvSpPr>
        <p:spPr>
          <a:xfrm>
            <a:off x="7734300" y="0"/>
            <a:ext cx="4457700" cy="6858000"/>
          </a:xfrm>
          <a:prstGeom prst="rect">
            <a:avLst/>
          </a:prstGeom>
          <a:solidFill>
            <a:srgbClr val="16233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DF287FE8-C68F-4A30-A96F-A1079BDDFA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361950"/>
            <a:ext cx="2019300" cy="95250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4B72EAE0-1AA4-4042-B5A8-C0E93B23D22B}"/>
              </a:ext>
            </a:extLst>
          </p:cNvPr>
          <p:cNvSpPr txBox="1"/>
          <p:nvPr/>
        </p:nvSpPr>
        <p:spPr>
          <a:xfrm>
            <a:off x="457200" y="1581150"/>
            <a:ext cx="6667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1200" b="1">
                <a:solidFill>
                  <a:srgbClr val="0070C0"/>
                </a:solidFill>
                <a:latin typeface="Calibri"/>
                <a:ea typeface="Calibri"/>
              </a:rPr>
              <a:t>PROBLEM STATEMENT SIH26158  ·  IDEA SUBMISSION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94B5658-6BCE-4A14-AB98-4F1124191B0A}"/>
              </a:ext>
            </a:extLst>
          </p:cNvPr>
          <p:cNvSpPr txBox="1"/>
          <p:nvPr/>
        </p:nvSpPr>
        <p:spPr>
          <a:xfrm>
            <a:off x="457200" y="1847850"/>
            <a:ext cx="6896100" cy="1104900"/>
          </a:xfrm>
        </p:spPr>
        <p:txBody>
          <a:bodyPr wrap="square" rtlCol="0" lIns="0" tIns="0" rIns="0" bIns="0" anchor="t"/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6233A"/>
                </a:solidFill>
                <a:latin typeface="Calibri"/>
                <a:ea typeface="Calibri"/>
              </a:rPr>
              <a:t>Single-Pass Drone Video to Accurate 3D Model Generation System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891AF83-E8F6-4E62-AB4B-BB4DDE5AE3DA}"/>
              </a:ext>
            </a:extLst>
          </p:cNvPr>
          <p:cNvSpPr txBox="1"/>
          <p:nvPr/>
        </p:nvSpPr>
        <p:spPr>
          <a:xfrm>
            <a:off x="457200" y="3028950"/>
            <a:ext cx="6896100" cy="781050"/>
          </a:xfrm>
        </p:spPr>
        <p:txBody>
          <a:bodyPr wrap="square" rtlCol="0" lIns="0" tIns="0" rIns="0" bIns="0" anchor="t"/>
          <a:lstStyle/>
          <a:p>
            <a:pPr algn="l"/>
            <a:r>
              <a:rPr sz="1400">
                <a:solidFill>
                  <a:srgbClr val="5A6B84"/>
                </a:solidFill>
                <a:latin typeface="Calibri"/>
                <a:ea typeface="Calibri"/>
              </a:rPr>
              <a:t>Drone3D turns one pass of drone or phone video, GPS and flight metadata into a georeferenced point cloud, mesh and six standard formats - and reports, point by point, what it actually measured.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9060EE7-B0CC-4AA0-8A69-8A8CC01EC1C2}"/>
              </a:ext>
            </a:extLst>
          </p:cNvPr>
          <p:cNvSpPr/>
          <p:nvPr/>
        </p:nvSpPr>
        <p:spPr>
          <a:xfrm>
            <a:off x="457200" y="3943350"/>
            <a:ext cx="6896100" cy="19050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595A5F7-AB2E-40F9-9D2C-A54A53AA77AB}"/>
              </a:ext>
            </a:extLst>
          </p:cNvPr>
          <p:cNvSpPr txBox="1"/>
          <p:nvPr/>
        </p:nvSpPr>
        <p:spPr>
          <a:xfrm>
            <a:off x="609600" y="4076700"/>
            <a:ext cx="3238500" cy="438150"/>
          </a:xfrm>
        </p:spPr>
        <p:txBody>
          <a:bodyPr wrap="square" rtlCol="0" lIns="0" tIns="0" rIns="0" bIns="0" anchor="t"/>
          <a:lstStyle/>
          <a:p>
            <a:pPr algn="l"/>
            <a:r>
              <a:rPr sz="900" b="1">
                <a:solidFill>
                  <a:srgbClr val="5A6B84"/>
                </a:solidFill>
                <a:latin typeface="Calibri"/>
                <a:ea typeface="Calibri"/>
              </a:rPr>
              <a:t>PROBLEM STATEMENT ID</a:t>
            </a:r>
          </a:p>
          <a:p>
            <a:pPr algn="l"/>
            <a:r>
              <a:rPr sz="1300" b="1">
                <a:solidFill>
                  <a:srgbClr val="16233A"/>
                </a:solidFill>
                <a:latin typeface="Calibri"/>
                <a:ea typeface="Calibri"/>
              </a:rPr>
              <a:t>SIH26158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BE75A41-7808-47F2-A6C9-C2FCDA25CABE}"/>
              </a:ext>
            </a:extLst>
          </p:cNvPr>
          <p:cNvSpPr txBox="1"/>
          <p:nvPr/>
        </p:nvSpPr>
        <p:spPr>
          <a:xfrm>
            <a:off x="4152900" y="4076700"/>
            <a:ext cx="304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900" b="1">
                <a:solidFill>
                  <a:srgbClr val="5A6B84"/>
                </a:solidFill>
                <a:latin typeface="Calibri"/>
                <a:ea typeface="Calibri"/>
              </a:rPr>
              <a:t>THEME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1ED279B-39F0-47E5-9340-30FF8A3D7873}"/>
              </a:ext>
            </a:extLst>
          </p:cNvPr>
          <p:cNvSpPr/>
          <p:nvPr/>
        </p:nvSpPr>
        <p:spPr>
          <a:xfrm>
            <a:off x="4152900" y="4400550"/>
            <a:ext cx="3048000" cy="9525"/>
          </a:xfrm>
          <a:prstGeom prst="rect">
            <a:avLst/>
          </a:prstGeom>
          <a:solidFill>
            <a:srgbClr val="C6D5E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2D3C68A-F93F-4AB9-98F7-08CF9E63B310}"/>
              </a:ext>
            </a:extLst>
          </p:cNvPr>
          <p:cNvSpPr txBox="1"/>
          <p:nvPr/>
        </p:nvSpPr>
        <p:spPr>
          <a:xfrm>
            <a:off x="609600" y="4648200"/>
            <a:ext cx="32385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900" b="1">
                <a:solidFill>
                  <a:srgbClr val="5A6B84"/>
                </a:solidFill>
                <a:latin typeface="Calibri"/>
                <a:ea typeface="Calibri"/>
              </a:rPr>
              <a:t>PS CATEGORY - SOFTWARE / HARDWARE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8AF3F77-42CD-4D85-A63B-861A19780E86}"/>
              </a:ext>
            </a:extLst>
          </p:cNvPr>
          <p:cNvSpPr/>
          <p:nvPr/>
        </p:nvSpPr>
        <p:spPr>
          <a:xfrm>
            <a:off x="609600" y="4972050"/>
            <a:ext cx="3238500" cy="9525"/>
          </a:xfrm>
          <a:prstGeom prst="rect">
            <a:avLst/>
          </a:prstGeom>
          <a:solidFill>
            <a:srgbClr val="C6D5E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BB84920-1D21-4A18-8274-9E059F6466F7}"/>
              </a:ext>
            </a:extLst>
          </p:cNvPr>
          <p:cNvSpPr txBox="1"/>
          <p:nvPr/>
        </p:nvSpPr>
        <p:spPr>
          <a:xfrm>
            <a:off x="4152900" y="4648200"/>
            <a:ext cx="30480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900" b="1">
                <a:solidFill>
                  <a:srgbClr val="5A6B84"/>
                </a:solidFill>
                <a:latin typeface="Calibri"/>
                <a:ea typeface="Calibri"/>
              </a:rPr>
              <a:t>TEAM ID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E0E80709-AD98-4A49-BDD5-8A8676D828F8}"/>
              </a:ext>
            </a:extLst>
          </p:cNvPr>
          <p:cNvSpPr/>
          <p:nvPr/>
        </p:nvSpPr>
        <p:spPr>
          <a:xfrm>
            <a:off x="4152900" y="4972050"/>
            <a:ext cx="3048000" cy="9525"/>
          </a:xfrm>
          <a:prstGeom prst="rect">
            <a:avLst/>
          </a:prstGeom>
          <a:solidFill>
            <a:srgbClr val="C6D5E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524A119-3717-491C-B956-66FF69EA3BA5}"/>
              </a:ext>
            </a:extLst>
          </p:cNvPr>
          <p:cNvSpPr txBox="1"/>
          <p:nvPr/>
        </p:nvSpPr>
        <p:spPr>
          <a:xfrm>
            <a:off x="609600" y="5219700"/>
            <a:ext cx="6591300" cy="228600"/>
          </a:xfrm>
        </p:spPr>
        <p:txBody>
          <a:bodyPr wrap="square" rtlCol="0" lIns="0" tIns="0" rIns="0" bIns="0" anchor="t"/>
          <a:lstStyle/>
          <a:p>
            <a:pPr algn="l"/>
            <a:r>
              <a:rPr sz="900" b="1">
                <a:solidFill>
                  <a:srgbClr val="5A6B84"/>
                </a:solidFill>
                <a:latin typeface="Calibri"/>
                <a:ea typeface="Calibri"/>
              </a:rPr>
              <a:t>TEAM NAME (REGISTERED ON SIH PORTAL)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DBA2E00-5378-46C8-B782-DBAC0CA8497F}"/>
              </a:ext>
            </a:extLst>
          </p:cNvPr>
          <p:cNvSpPr/>
          <p:nvPr/>
        </p:nvSpPr>
        <p:spPr>
          <a:xfrm>
            <a:off x="609600" y="5543550"/>
            <a:ext cx="6591300" cy="9525"/>
          </a:xfrm>
          <a:prstGeom prst="rect">
            <a:avLst/>
          </a:prstGeom>
          <a:solidFill>
            <a:srgbClr val="C6D5E8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2F76DC7-A6D3-445E-92EF-6DD7468AEE22}"/>
              </a:ext>
            </a:extLst>
          </p:cNvPr>
          <p:cNvSpPr txBox="1"/>
          <p:nvPr/>
        </p:nvSpPr>
        <p:spPr>
          <a:xfrm>
            <a:off x="8039100" y="1371600"/>
            <a:ext cx="3848100" cy="190500"/>
          </a:xfrm>
        </p:spPr>
        <p:txBody>
          <a:bodyPr wrap="square" rtlCol="0" lIns="0" tIns="0" rIns="0" bIns="0" anchor="t"/>
          <a:lstStyle/>
          <a:p>
            <a:pPr algn="l"/>
            <a:r>
              <a:rPr sz="1000" b="1">
                <a:solidFill>
                  <a:srgbClr val="7FA0C8"/>
                </a:solidFill>
                <a:latin typeface="Calibri"/>
                <a:ea typeface="Calibri"/>
              </a:rPr>
              <a:t>RECONSTRUCTED SURFACE, RENDERED FROM THE MODEL</a:t>
            </a:r>
          </a:p>
        </p:txBody>
      </p:sp>
      <p:pic>
        <p:nvPicPr>
          <p:cNvPr id="19" name="Picture 19">
            <a:extLst>
              <a:ext uri="{FF2B5EF4-FFF2-40B4-BE49-F238E27FC236}">
                <a16:creationId xmlns:a16="http://schemas.microsoft.com/office/drawing/2014/main" id="{0A93204C-9AB4-403E-88FB-DBA17B23C379}"/>
              </a:ext>
            </a:extLst>
          </p:cNvPr>
          <p:cNvPicPr/>
          <p:nvPr/>
        </p:nvPicPr>
        <p:blipFill>
          <a:blip r:embed="rId3"/>
          <a:srcRect l="3745" r="3745"/>
          <a:stretch>
            <a:fillRect/>
          </a:stretch>
        </p:blipFill>
        <p:spPr>
          <a:xfrm>
            <a:off x="8039100" y="1600200"/>
            <a:ext cx="3848100" cy="2190750"/>
          </a:xfrm>
          <a:prstGeom prst="rect">
            <a:avLst/>
          </a:prstGeom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D09ADB6D-2A8C-441B-B86A-F6CB8A35E61F}"/>
              </a:ext>
            </a:extLst>
          </p:cNvPr>
          <p:cNvSpPr txBox="1"/>
          <p:nvPr/>
        </p:nvSpPr>
        <p:spPr>
          <a:xfrm>
            <a:off x="8039100" y="4076700"/>
            <a:ext cx="114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287/287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CF1813CA-FA95-4B80-A740-C9B28FDC8504}"/>
              </a:ext>
            </a:extLst>
          </p:cNvPr>
          <p:cNvSpPr txBox="1"/>
          <p:nvPr/>
        </p:nvSpPr>
        <p:spPr>
          <a:xfrm>
            <a:off x="9258300" y="4114800"/>
            <a:ext cx="26289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FB6D4"/>
                </a:solidFill>
                <a:latin typeface="Calibri"/>
                <a:ea typeface="Calibri"/>
              </a:rPr>
              <a:t>cameras registered in one geo-constrained solve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4656CD48-0ADE-4F27-9313-DD4D14D3CB42}"/>
              </a:ext>
            </a:extLst>
          </p:cNvPr>
          <p:cNvSpPr txBox="1"/>
          <p:nvPr/>
        </p:nvSpPr>
        <p:spPr>
          <a:xfrm>
            <a:off x="8039100" y="4514850"/>
            <a:ext cx="114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1.57 M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28FA0BA8-0284-4A3B-BF5E-44B531B8E132}"/>
              </a:ext>
            </a:extLst>
          </p:cNvPr>
          <p:cNvSpPr txBox="1"/>
          <p:nvPr/>
        </p:nvSpPr>
        <p:spPr>
          <a:xfrm>
            <a:off x="9258300" y="4552950"/>
            <a:ext cx="26289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FB6D4"/>
                </a:solidFill>
                <a:latin typeface="Calibri"/>
                <a:ea typeface="Calibri"/>
              </a:rPr>
              <a:t>measured points written with a real CRS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F460CBD-8A08-499A-A404-EC820B6D015A}"/>
              </a:ext>
            </a:extLst>
          </p:cNvPr>
          <p:cNvSpPr txBox="1"/>
          <p:nvPr/>
        </p:nvSpPr>
        <p:spPr>
          <a:xfrm>
            <a:off x="8039100" y="4953000"/>
            <a:ext cx="1143000" cy="304800"/>
          </a:xfrm>
        </p:spPr>
        <p:txBody>
          <a:bodyPr wrap="square" rtlCol="0" lIns="0" tIns="0" rIns="0" bIns="0" anchor="t"/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  <a:ea typeface="Calibri"/>
              </a:rPr>
              <a:t>6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C95BFEE6-E5BE-4739-A2BF-98EC93D8A715}"/>
              </a:ext>
            </a:extLst>
          </p:cNvPr>
          <p:cNvSpPr txBox="1"/>
          <p:nvPr/>
        </p:nvSpPr>
        <p:spPr>
          <a:xfrm>
            <a:off x="9258300" y="4991100"/>
            <a:ext cx="2628900" cy="2857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9FB6D4"/>
                </a:solidFill>
                <a:latin typeface="Calibri"/>
                <a:ea typeface="Calibri"/>
              </a:rPr>
              <a:t>official output formats from a single run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2EBC06DB-22FB-4EA6-8F9D-C9FFCC7434B1}"/>
              </a:ext>
            </a:extLst>
          </p:cNvPr>
          <p:cNvSpPr txBox="1"/>
          <p:nvPr/>
        </p:nvSpPr>
        <p:spPr>
          <a:xfrm>
            <a:off x="8039100" y="5524500"/>
            <a:ext cx="3848100" cy="323850"/>
          </a:xfrm>
        </p:spPr>
        <p:txBody>
          <a:bodyPr wrap="square" rtlCol="0" lIns="0" tIns="0" rIns="0" bIns="0" anchor="t"/>
          <a:lstStyle/>
          <a:p>
            <a:pPr algn="l"/>
            <a:r>
              <a:rPr sz="1000" i="1">
                <a:solidFill>
                  <a:srgbClr val="7FA0C8"/>
                </a:solidFill>
                <a:latin typeface="Calibri"/>
                <a:ea typeface="Calibri"/>
              </a:rPr>
              <a:t>Runs end to end on a 6 GB laptop. 663 CPU tests green.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0FFA9569-C439-47CF-81FF-D369668144C3}"/>
              </a:ext>
            </a:extLst>
          </p:cNvPr>
          <p:cNvSpPr/>
          <p:nvPr/>
        </p:nvSpPr>
        <p:spPr>
          <a:xfrm>
            <a:off x="0" y="6457950"/>
            <a:ext cx="12192000" cy="400050"/>
          </a:xfrm>
          <a:prstGeom prst="rect">
            <a:avLst/>
          </a:prstGeom>
          <a:solidFill>
            <a:srgbClr val="1F497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D0313CA-66A0-47F0-850D-9161B4C1B9FE}"/>
              </a:ext>
            </a:extLst>
          </p:cNvPr>
          <p:cNvSpPr txBox="1"/>
          <p:nvPr/>
        </p:nvSpPr>
        <p:spPr>
          <a:xfrm>
            <a:off x="457200" y="6553200"/>
            <a:ext cx="6667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000">
                <a:solidFill>
                  <a:srgbClr val="FFFFFF"/>
                </a:solidFill>
                <a:latin typeface="Calibri"/>
                <a:ea typeface="Calibri"/>
              </a:rPr>
              <a:t>SIH26158  ·  Single-Pass Drone Video to Accurate 3D Model Generation System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5919F23-9B7A-40E3-B8DF-3A516F2C459E}"/>
              </a:ext>
            </a:extLst>
          </p:cNvPr>
          <p:cNvSpPr txBox="1"/>
          <p:nvPr/>
        </p:nvSpPr>
        <p:spPr>
          <a:xfrm>
            <a:off x="10668000" y="6553200"/>
            <a:ext cx="1066800" cy="209550"/>
          </a:xfrm>
        </p:spPr>
        <p:txBody>
          <a:bodyPr wrap="square" rtlCol="0" lIns="0" tIns="0" rIns="0" bIns="0" anchor="t"/>
          <a:lstStyle/>
          <a:p>
            <a:pPr algn="r"/>
            <a:r>
              <a:rPr sz="1000" b="1">
                <a:solidFill>
                  <a:srgbClr val="FFFFFF"/>
                </a:solidFill>
                <a:latin typeface="Calibri"/>
                <a:ea typeface="Calibri"/>
              </a:rPr>
              <a:t>06 / 06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FB19893B-7369-4279-8970-7DEA033AEF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715500" y="171450"/>
            <a:ext cx="2019300" cy="952500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D564465-8B94-452A-9860-F63AE1D77006}"/>
              </a:ext>
            </a:extLst>
          </p:cNvPr>
          <p:cNvSpPr txBox="1"/>
          <p:nvPr/>
        </p:nvSpPr>
        <p:spPr>
          <a:xfrm>
            <a:off x="457200" y="247650"/>
            <a:ext cx="8572500" cy="457200"/>
          </a:xfrm>
        </p:spPr>
        <p:txBody>
          <a:bodyPr wrap="square" rtlCol="0" lIns="0" tIns="0" rIns="0" bIns="0" anchor="t"/>
          <a:lstStyle/>
          <a:p>
            <a:pPr algn="l"/>
            <a:r>
              <a:rPr sz="3000" b="1">
                <a:solidFill>
                  <a:srgbClr val="1F497D"/>
                </a:solidFill>
                <a:latin typeface="Calibri"/>
                <a:ea typeface="Calibri"/>
              </a:rPr>
              <a:t>RESEARCH AND REFERENCES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40F4703-0A0F-4D19-9662-34BFD5E65B2A}"/>
              </a:ext>
            </a:extLst>
          </p:cNvPr>
          <p:cNvSpPr/>
          <p:nvPr/>
        </p:nvSpPr>
        <p:spPr>
          <a:xfrm>
            <a:off x="457200" y="742950"/>
            <a:ext cx="1143000" cy="38100"/>
          </a:xfrm>
          <a:prstGeom prst="rect">
            <a:avLst/>
          </a:prstGeom>
          <a:solidFill>
            <a:srgbClr val="0070C0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960C5C1-E76B-45D8-BC05-2BEED360FC65}"/>
              </a:ext>
            </a:extLst>
          </p:cNvPr>
          <p:cNvSpPr txBox="1"/>
          <p:nvPr/>
        </p:nvSpPr>
        <p:spPr>
          <a:xfrm>
            <a:off x="457200" y="838200"/>
            <a:ext cx="8953500" cy="209550"/>
          </a:xfrm>
        </p:spPr>
        <p:txBody>
          <a:bodyPr wrap="square" rtlCol="0" lIns="0" tIns="0" rIns="0" bIns="0" anchor="t"/>
          <a:lstStyle/>
          <a:p>
            <a:pPr algn="l"/>
            <a:r>
              <a:rPr sz="1150">
                <a:solidFill>
                  <a:srgbClr val="5A6B84"/>
                </a:solidFill>
                <a:latin typeface="Calibri"/>
                <a:ea typeface="Calibri"/>
              </a:rPr>
              <a:t>What we built on, what we tested against, and what we chose not to use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5A8F808-D9E3-41B5-B9D8-997F33BC7B00}"/>
              </a:ext>
            </a:extLst>
          </p:cNvPr>
          <p:cNvSpPr/>
          <p:nvPr/>
        </p:nvSpPr>
        <p:spPr>
          <a:xfrm>
            <a:off x="457200" y="1200150"/>
            <a:ext cx="2705100" cy="36195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DAAED0A-69F1-4C67-B01C-6E1B63CAA5C9}"/>
              </a:ext>
            </a:extLst>
          </p:cNvPr>
          <p:cNvSpPr txBox="1"/>
          <p:nvPr/>
        </p:nvSpPr>
        <p:spPr>
          <a:xfrm>
            <a:off x="590550" y="1333500"/>
            <a:ext cx="2438400" cy="3352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RECONSTRUCTION AND SURFACE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COLMAP - Schönberger &amp; Frahm, CVPR 2016; position priors, ECEF/ENU, RANSAC alignment [S7, S8]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Poisson surface reconstruction - COLMAP poisson_mesher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3D Gaussian Splatting - Kerbl et al., SIGGRAPH 2023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gsplat 1.5.3 - Apache-2.0 clean-room rasterizer and 2DGS trainer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2D Gaussian Splatting - arXiv:2403.17888 [S29]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DPVO / DPV-SLAM - arXiv:2408.01654 [S26]</a:t>
            </a:r>
          </a:p>
          <a:p>
            <a:pPr marL="228600" indent="-228600" algn="l"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Open3D TSDF fusion - MIT mesh fallback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5CD2CEAA-9303-4833-8D90-CFBC926C456E}"/>
              </a:ext>
            </a:extLst>
          </p:cNvPr>
          <p:cNvSpPr/>
          <p:nvPr/>
        </p:nvSpPr>
        <p:spPr>
          <a:xfrm>
            <a:off x="3314700" y="1200150"/>
            <a:ext cx="2705100" cy="36195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7A7EADB-D7C3-4ECD-BC55-2D7ECBD3A318}"/>
              </a:ext>
            </a:extLst>
          </p:cNvPr>
          <p:cNvSpPr txBox="1"/>
          <p:nvPr/>
        </p:nvSpPr>
        <p:spPr>
          <a:xfrm>
            <a:off x="3448050" y="1333500"/>
            <a:ext cx="2438400" cy="3352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GEOREFERENCING AND FORMATS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PDAL LAS writer - LAS/LAZ, CRS, scale and offset [S1]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GDAL GeoTIFF driver - CRS, nodata, masks [S2]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Rasterio georeferencing - pixel-to-world transform [S3]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PDAL GDAL raster writer - point-to-raster DSM [S4]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OpenDroneMap geolocation format - per-image positions [S9]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GTSAM GPS and IMU factors - optional smoothing [S11-S13]</a:t>
            </a:r>
          </a:p>
          <a:p>
            <a:pPr marL="228600" indent="-228600" algn="l"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pyproj - WGS84 / UTM / ENU transforms, EGM96 geoid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68BD8240-67C5-43E4-A97F-670578DE46B5}"/>
              </a:ext>
            </a:extLst>
          </p:cNvPr>
          <p:cNvSpPr/>
          <p:nvPr/>
        </p:nvSpPr>
        <p:spPr>
          <a:xfrm>
            <a:off x="6172200" y="1200150"/>
            <a:ext cx="2705100" cy="36195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601C4ED-1C91-4A5E-8027-6F780A77A585}"/>
              </a:ext>
            </a:extLst>
          </p:cNvPr>
          <p:cNvSpPr txBox="1"/>
          <p:nvPr/>
        </p:nvSpPr>
        <p:spPr>
          <a:xfrm>
            <a:off x="6305550" y="1333500"/>
            <a:ext cx="2438400" cy="3352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LEARNED ALTERNATIVES SURVEYED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VGGT (CVPR 2025) and VGGT-Long (ICRA 2026) [S23, S24] - acceptable-use policy bars defence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MapAnything-apache (Meta) - metric feed-forward geometry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Pi3 (ICLR 2026, BSD-3) - defence-clean geometry core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Depth Anything 3 + DA3-Streaming - Apache weight variants, long video under 12 GB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MASt3R-SLAM [S25]; Gaussian Opacity Fields, 24.2 min/scene on A100 [S31]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SAM 2 [S33], LightGlue [S20], ALIKED [S21]</a:t>
            </a:r>
          </a:p>
          <a:p>
            <a:pPr marL="228600" indent="-228600" algn="l">
              <a:buChar char="•"/>
            </a:pPr>
            <a:r>
              <a:rPr sz="900" b="1">
                <a:solidFill>
                  <a:srgbClr val="1F497D"/>
                </a:solidFill>
                <a:latin typeface="Calibri"/>
                <a:ea typeface="Calibri"/>
              </a:rPr>
              <a:t>Verdict: not shipped for VRAM and licence, not for maturity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BDEF4CA-8B87-4695-8A8B-8FE1820D0C42}"/>
              </a:ext>
            </a:extLst>
          </p:cNvPr>
          <p:cNvSpPr/>
          <p:nvPr/>
        </p:nvSpPr>
        <p:spPr>
          <a:xfrm>
            <a:off x="9029700" y="1200150"/>
            <a:ext cx="2705100" cy="3619500"/>
          </a:xfrm>
          <a:prstGeom prst="roundRect">
            <a:avLst/>
          </a:prstGeom>
          <a:solidFill>
            <a:srgbClr val="F2F6FB"/>
          </a:solidFill>
          <a:ln w="12700">
            <a:solidFill>
              <a:srgbClr val="C6D5E8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334A64F4-10EF-4FC4-96DC-E36DE64F29D4}"/>
              </a:ext>
            </a:extLst>
          </p:cNvPr>
          <p:cNvSpPr txBox="1"/>
          <p:nvPr/>
        </p:nvSpPr>
        <p:spPr>
          <a:xfrm>
            <a:off x="9163050" y="1333500"/>
            <a:ext cx="2438400" cy="335280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8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BENCHMARKS AND OUR OWN RECORD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SIH26158 official brief, printed pages 37-39 [P0]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UrbanScene3D - LiDAR reference, non-commercial [S14, S15]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ETH3D high-res multi-view - CC BY-NC-SA 4.0 [S16-S19]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01 Research and Technology Survey; 02 System Architecture and Pipeline Design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06 Splat Completion Research; 07 Video-to-3D Alternatives 2026; 08 Splat Cleaning and Generation</a:t>
            </a:r>
          </a:p>
          <a:p>
            <a:pPr marL="228600" indent="-228600" algn="l">
              <a:spcAft>
                <a:spcPts val="500"/>
              </a:spcAft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09 SIH26158 Evaluation and Improvement Report, 22 Sep 2026</a:t>
            </a:r>
          </a:p>
          <a:p>
            <a:pPr marL="228600" indent="-228600" algn="l">
              <a:buChar char="•"/>
            </a:pPr>
            <a:r>
              <a:rPr sz="900">
                <a:solidFill>
                  <a:srgbClr val="16233A"/>
                </a:solidFill>
                <a:latin typeface="Calibri"/>
                <a:ea typeface="Calibri"/>
              </a:rPr>
              <a:t>docs/readiness 01-05 - findings, wiring ledger, claims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99090C6-79A2-4851-9635-DEA4E37A6866}"/>
              </a:ext>
            </a:extLst>
          </p:cNvPr>
          <p:cNvSpPr/>
          <p:nvPr/>
        </p:nvSpPr>
        <p:spPr>
          <a:xfrm>
            <a:off x="457200" y="4972050"/>
            <a:ext cx="6896100" cy="131445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6A2629B9-7AC3-4F2B-A0AF-576B7BFE2065}"/>
              </a:ext>
            </a:extLst>
          </p:cNvPr>
          <p:cNvSpPr txBox="1"/>
          <p:nvPr/>
        </p:nvSpPr>
        <p:spPr>
          <a:xfrm>
            <a:off x="590550" y="5086350"/>
            <a:ext cx="6629400" cy="1047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WHY COLMAP, AND NOT A FEED-FORWARD MODEL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Feed-forward geometry needs cloud-scale VRAM for a long take, or returns scene shape without scene scale.</a:t>
            </a:r>
          </a:p>
          <a:p>
            <a:pPr marL="228600" indent="-228600" algn="l">
              <a:spcAft>
                <a:spcPts val="400"/>
              </a:spcAft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COLMAP has no VRAM floor, so the same run completes on the 6 GB laptop we already own.</a:t>
            </a:r>
          </a:p>
          <a:p>
            <a:pPr marL="228600" indent="-228600" algn="l">
              <a:buChar char="•"/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Mesh-from-splats projects (SuGaR, PGSR, GOF) are non-commercial; gsplat's Apache 2DGS trainer is not.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B2C49AE2-F19B-4C19-BAF6-8A54B27BD25E}"/>
              </a:ext>
            </a:extLst>
          </p:cNvPr>
          <p:cNvSpPr/>
          <p:nvPr/>
        </p:nvSpPr>
        <p:spPr>
          <a:xfrm>
            <a:off x="7505700" y="4972050"/>
            <a:ext cx="4229100" cy="1314450"/>
          </a:xfrm>
          <a:prstGeom prst="roundRect">
            <a:avLst/>
          </a:prstGeom>
          <a:solidFill>
            <a:srgbClr val="DCE6F2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C7FE569-2760-4621-BB6E-2AD688780BE4}"/>
              </a:ext>
            </a:extLst>
          </p:cNvPr>
          <p:cNvSpPr txBox="1"/>
          <p:nvPr/>
        </p:nvSpPr>
        <p:spPr>
          <a:xfrm>
            <a:off x="7639050" y="5086350"/>
            <a:ext cx="3962400" cy="1047750"/>
          </a:xfrm>
        </p:spPr>
        <p:txBody>
          <a:bodyPr wrap="square" rtlCol="0" lIns="0" tIns="0" rIns="0" bIns="0" anchor="t"/>
          <a:lstStyle/>
          <a:p>
            <a:pPr algn="l">
              <a:spcAft>
                <a:spcPts val="700"/>
              </a:spcAft>
            </a:pPr>
            <a:r>
              <a:rPr sz="1100" b="1">
                <a:solidFill>
                  <a:srgbClr val="1F497D"/>
                </a:solidFill>
                <a:latin typeface="Calibri"/>
                <a:ea typeface="Calibri"/>
              </a:rPr>
              <a:t>STACK USABLE IN A DEFENCE SCOPE</a:t>
            </a:r>
          </a:p>
          <a:p>
            <a:pPr algn="l">
              <a:spcAft>
                <a:spcPts val="600"/>
              </a:spcAft>
            </a:pPr>
            <a:r>
              <a:rPr sz="950">
                <a:solidFill>
                  <a:srgbClr val="16233A"/>
                </a:solidFill>
                <a:latin typeface="Calibri"/>
                <a:ea typeface="Calibri"/>
              </a:rPr>
              <a:t>COLMAP (BSD) · gsplat (Apache-2.0) · Open3D (MIT) · PDAL (BSD) · GDAL (MIT) · pyproj (BSD) · Pi3 (BSD-3) · DPVO (MIT)</a:t>
            </a:r>
          </a:p>
          <a:p>
            <a:pPr algn="l"/>
            <a:r>
              <a:rPr sz="950" i="1">
                <a:solidFill>
                  <a:srgbClr val="5A6B84"/>
                </a:solidFill>
                <a:latin typeface="Calibri"/>
                <a:ea typeface="Calibri"/>
              </a:rPr>
              <a:t>VGGT weights are excluded by acceptable-use policy, not by quality.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
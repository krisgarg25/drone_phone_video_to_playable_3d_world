
<file path=[Content_Types].xml><?xml version="1.0" encoding="utf-8"?>
<Types xmlns="http://schemas.openxmlformats.org/package/2006/content-types">
  <Default Extension="jpg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EAF1F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23F31F07-578F-43CC-B4B7-12BCF1C14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Drone3D — Single-Pass Drone Video to Accurate, Walkable 3D Models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CD2E0-48C2-4BA2-81EF-002B792E7350}"/>
              </a:ext>
            </a:extLst>
          </p:cNvPr>
          <p:cNvSpPr txBox="1"/>
          <p:nvPr/>
        </p:nvSpPr>
        <p:spPr>
          <a:xfrm>
            <a:off x="331286" y="2076450"/>
            <a:ext cx="5924550" cy="343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 marL="0" indent="0" algn="just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•  Problem Statement ID – </a:t>
            </a: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SIH26158</a:t>
            </a:r>
          </a:p>
          <a:p>
            <a:pPr marL="0" indent="0" algn="just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•  Problem Statement Title – </a:t>
            </a: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Single-Pass Drone Video to Accurate 3D Model Generation System</a:t>
            </a:r>
          </a:p>
          <a:p>
            <a:pPr marL="0" indent="0" algn="just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•  Theme – </a:t>
            </a: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Drones &amp; Robotics</a:t>
            </a:r>
          </a:p>
          <a:p>
            <a:pPr marL="0" indent="0" algn="just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•  PS Category – </a:t>
            </a: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Software</a:t>
            </a:r>
          </a:p>
          <a:p>
            <a:pPr marL="0" indent="0" algn="just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•  Team ID – </a:t>
            </a: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(to be filled on portal)</a:t>
            </a:r>
          </a:p>
          <a:p>
            <a:pPr marL="0" indent="0" algn="just">
              <a:lnSpc>
                <a:spcPct val="112000"/>
              </a:lnSpc>
              <a:spcAft>
                <a:spcPts val="1000"/>
              </a:spcAft>
              <a:buNone/>
            </a:pPr>
            <a:r>
              <a:rPr sz="18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•  Team Name (Registered on portal) – </a:t>
            </a:r>
            <a:r>
              <a:rPr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Your Team Name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FC81922C-D940-44E5-BACF-99969316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000" b="1">
                <a:latin typeface="Times New Roman"/>
                <a:ea typeface="ＭＳ Ｐゴシック"/>
                <a:cs typeface="Times New Roman"/>
              </a:rPr>
              <a:t/>
            </a:r>
          </a:p>
          <a:p>
            <a:r>
              <a:rPr sz="3000" b="1">
                <a:latin typeface="Times New Roman"/>
                <a:ea typeface="ＭＳ Ｐゴシック"/>
                <a:cs typeface="Times New Roman"/>
              </a:rPr>
              <a:t>One Flight Pass In, Measured 3D Out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Shape 15363">
            <a:extLst>
              <a:ext uri="{FF2B5EF4-FFF2-40B4-BE49-F238E27FC236}">
                <a16:creationId xmlns:a16="http://schemas.microsoft.com/office/drawing/2014/main" id="{63923E52-3D1F-4A9D-B19E-70CBAD8695FC}"/>
              </a:ext>
            </a:extLst>
          </p:cNvPr>
          <p:cNvSpPr/>
          <p:nvPr/>
        </p:nvSpPr>
        <p:spPr>
          <a:xfrm>
            <a:off x="381000" y="1219200"/>
            <a:ext cx="5619750" cy="342900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364" name="Shape 15364">
            <a:extLst>
              <a:ext uri="{FF2B5EF4-FFF2-40B4-BE49-F238E27FC236}">
                <a16:creationId xmlns:a16="http://schemas.microsoft.com/office/drawing/2014/main" id="{23F9DA01-67FC-4E79-8872-5CA8C5BCA92F}"/>
              </a:ext>
            </a:extLst>
          </p:cNvPr>
          <p:cNvSpPr/>
          <p:nvPr/>
        </p:nvSpPr>
        <p:spPr>
          <a:xfrm>
            <a:off x="6191250" y="1219200"/>
            <a:ext cx="561975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365" name="TextBox 15365">
            <a:extLst>
              <a:ext uri="{FF2B5EF4-FFF2-40B4-BE49-F238E27FC236}">
                <a16:creationId xmlns:a16="http://schemas.microsoft.com/office/drawing/2014/main" id="{C3C43D8F-BD5C-46D8-BB3A-AE4E06FC765A}"/>
              </a:ext>
            </a:extLst>
          </p:cNvPr>
          <p:cNvSpPr txBox="1"/>
          <p:nvPr/>
        </p:nvSpPr>
        <p:spPr>
          <a:xfrm>
            <a:off x="533400" y="1333500"/>
            <a:ext cx="5314950" cy="3200400"/>
          </a:xfrm>
        </p:spPr>
        <p:txBody>
          <a:bodyPr wrap="square" rtlCol="0"/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PROPOSED SOLUTION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One video pass from a drone or phone, plus its GPS/IMU telemetry, is the only input — no flight planning, no ground control points, no second flight.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It cleans the footage, solves the cameras, recovers true metric scale and gravity, then reconstructs the scene twice: a photoreal 3D-Gaussian-Splatting model and a survey-grade dense mesh.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Results are georeferenced (UTM + EGM96) with writers for all six SIH-mandated formats, plus a browser viewer an operator can walk through.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An 11-rule automatic gate and blinded A/B renders decide what ships; anything unproven is reported as “not demonstrated”.</a:t>
            </a:r>
          </a:p>
          <a:p>
            <a:pPr algn="l">
              <a:spcAft>
                <a:spcPct val="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Drone or phone capture; GPS-denied scans fall back to AR pose priors.</a:t>
            </a:r>
          </a:p>
        </p:txBody>
      </p:sp>
      <p:sp>
        <p:nvSpPr>
          <p:cNvPr id="15366" name="TextBox 15366">
            <a:extLst>
              <a:ext uri="{FF2B5EF4-FFF2-40B4-BE49-F238E27FC236}">
                <a16:creationId xmlns:a16="http://schemas.microsoft.com/office/drawing/2014/main" id="{C2604117-72A5-48C9-99C6-65FCBE1D0CA8}"/>
              </a:ext>
            </a:extLst>
          </p:cNvPr>
          <p:cNvSpPr txBox="1"/>
          <p:nvPr/>
        </p:nvSpPr>
        <p:spPr>
          <a:xfrm>
            <a:off x="6343650" y="1333500"/>
            <a:ext cx="5314950" cy="3200400"/>
          </a:xfrm>
        </p:spPr>
        <p:txBody>
          <a:bodyPr wrap="square" rtlCol="0"/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INNOVATION &amp; UNIQUENESS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Motion-consistent dynamic veto — moving cars and people are removed from matching using camera geometry, not a segmentation network (reprojection error −7.8%).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Four-ruler metric scale recovery (AR prior &gt; GPS fit &gt; height &gt; speed) yields true metres and a correct “up” with zero ground control points.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Walkability by measurement: two candidate ground meshes are routed by an autopilot and the one that walks further is shipped.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Honesty-first: no generative invention of unseen surfaces; measured, weak and unobserved regions are reported separately.</a:t>
            </a:r>
          </a:p>
          <a:p>
            <a:pPr algn="l">
              <a:spcAft>
                <a:spcPct val="0"/>
              </a:spcAft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Every run is reproducible: code SHA, parameters and timings archived in the run bundle.</a:t>
            </a:r>
          </a:p>
        </p:txBody>
      </p:sp>
      <p:sp>
        <p:nvSpPr>
          <p:cNvPr id="15367" name="Shape 15367">
            <a:extLst>
              <a:ext uri="{FF2B5EF4-FFF2-40B4-BE49-F238E27FC236}">
                <a16:creationId xmlns:a16="http://schemas.microsoft.com/office/drawing/2014/main" id="{2E1A3B3D-75E6-458A-AEFC-231159D460B9}"/>
              </a:ext>
            </a:extLst>
          </p:cNvPr>
          <p:cNvSpPr/>
          <p:nvPr/>
        </p:nvSpPr>
        <p:spPr>
          <a:xfrm>
            <a:off x="381000" y="4762500"/>
            <a:ext cx="3676650" cy="1257300"/>
          </a:xfrm>
          <a:prstGeom prst="roundRect">
            <a:avLst>
              <a:gd name="adj" fmla="val 10000"/>
            </a:avLst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368" name="Shape 15368">
            <a:extLst>
              <a:ext uri="{FF2B5EF4-FFF2-40B4-BE49-F238E27FC236}">
                <a16:creationId xmlns:a16="http://schemas.microsoft.com/office/drawing/2014/main" id="{5E8A4AF1-DAD4-4986-B62E-BC8838854345}"/>
              </a:ext>
            </a:extLst>
          </p:cNvPr>
          <p:cNvSpPr/>
          <p:nvPr/>
        </p:nvSpPr>
        <p:spPr>
          <a:xfrm>
            <a:off x="4257675" y="4762500"/>
            <a:ext cx="3676650" cy="1257300"/>
          </a:xfrm>
          <a:prstGeom prst="roundRect">
            <a:avLst>
              <a:gd name="adj" fmla="val 10000"/>
            </a:avLst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369" name="Shape 15369">
            <a:extLst>
              <a:ext uri="{FF2B5EF4-FFF2-40B4-BE49-F238E27FC236}">
                <a16:creationId xmlns:a16="http://schemas.microsoft.com/office/drawing/2014/main" id="{39096E8C-B0C8-410A-9D9A-598706945DD4}"/>
              </a:ext>
            </a:extLst>
          </p:cNvPr>
          <p:cNvSpPr/>
          <p:nvPr/>
        </p:nvSpPr>
        <p:spPr>
          <a:xfrm>
            <a:off x="8134350" y="4762500"/>
            <a:ext cx="3676650" cy="1257300"/>
          </a:xfrm>
          <a:prstGeom prst="roundRect">
            <a:avLst>
              <a:gd name="adj" fmla="val 10000"/>
            </a:avLst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370" name="TextBox 15370">
            <a:extLst>
              <a:ext uri="{FF2B5EF4-FFF2-40B4-BE49-F238E27FC236}">
                <a16:creationId xmlns:a16="http://schemas.microsoft.com/office/drawing/2014/main" id="{E840B4E9-3D79-4303-9CE6-A4080A5542C6}"/>
              </a:ext>
            </a:extLst>
          </p:cNvPr>
          <p:cNvSpPr txBox="1"/>
          <p:nvPr/>
        </p:nvSpPr>
        <p:spPr>
          <a:xfrm>
            <a:off x="495300" y="4857750"/>
            <a:ext cx="3448050" cy="1066800"/>
          </a:xfrm>
        </p:spPr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drone pass in — no GCPs, no re-flight</a:t>
            </a:r>
          </a:p>
          <a:p>
            <a:pPr algn="ctr"/>
            <a:r>
              <a:rPr sz="95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video + GPS / IMU telemetry only</a:t>
            </a:r>
          </a:p>
        </p:txBody>
      </p:sp>
      <p:sp>
        <p:nvSpPr>
          <p:cNvPr id="15371" name="TextBox 15371">
            <a:extLst>
              <a:ext uri="{FF2B5EF4-FFF2-40B4-BE49-F238E27FC236}">
                <a16:creationId xmlns:a16="http://schemas.microsoft.com/office/drawing/2014/main" id="{5759956F-1C0E-43C2-BF5A-23F3DE2E328F}"/>
              </a:ext>
            </a:extLst>
          </p:cNvPr>
          <p:cNvSpPr txBox="1"/>
          <p:nvPr/>
        </p:nvSpPr>
        <p:spPr>
          <a:xfrm>
            <a:off x="4371975" y="4857750"/>
            <a:ext cx="3448050" cy="1066800"/>
          </a:xfrm>
        </p:spPr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official export formats implemented</a:t>
            </a:r>
          </a:p>
          <a:p>
            <a:pPr algn="ctr"/>
            <a:r>
              <a:rPr sz="95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OBJ · PLY · LAS · GeoTIFF · GLB · FBX</a:t>
            </a:r>
          </a:p>
        </p:txBody>
      </p:sp>
      <p:sp>
        <p:nvSpPr>
          <p:cNvPr id="15372" name="TextBox 15372">
            <a:extLst>
              <a:ext uri="{FF2B5EF4-FFF2-40B4-BE49-F238E27FC236}">
                <a16:creationId xmlns:a16="http://schemas.microsoft.com/office/drawing/2014/main" id="{A31A8522-1FDF-467E-8E58-41DA047EA11A}"/>
              </a:ext>
            </a:extLst>
          </p:cNvPr>
          <p:cNvSpPr txBox="1"/>
          <p:nvPr/>
        </p:nvSpPr>
        <p:spPr>
          <a:xfrm>
            <a:off x="8248650" y="4857750"/>
            <a:ext cx="3448050" cy="1066800"/>
          </a:xfrm>
        </p:spPr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65 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autonomous walk, 0 falls</a:t>
            </a:r>
          </a:p>
          <a:p>
            <a:pPr algn="ctr"/>
            <a:r>
              <a:rPr sz="95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measured on a real capture, 6 GB laptop 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hape 17411">
            <a:extLst>
              <a:ext uri="{FF2B5EF4-FFF2-40B4-BE49-F238E27FC236}">
                <a16:creationId xmlns:a16="http://schemas.microsoft.com/office/drawing/2014/main" id="{2488099E-EA68-44B7-B0DC-A77607E4E45B}"/>
              </a:ext>
            </a:extLst>
          </p:cNvPr>
          <p:cNvSpPr/>
          <p:nvPr/>
        </p:nvSpPr>
        <p:spPr>
          <a:xfrm>
            <a:off x="381000" y="1162050"/>
            <a:ext cx="11430000" cy="2857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END-TO-END PIPELINE — ONE FLIGHT PASS IN, GEOREFERENCED WALKABLE WORLD OUT</a:t>
            </a:r>
          </a:p>
        </p:txBody>
      </p:sp>
      <p:sp>
        <p:nvSpPr>
          <p:cNvPr id="17412" name="Shape 17412">
            <a:extLst>
              <a:ext uri="{FF2B5EF4-FFF2-40B4-BE49-F238E27FC236}">
                <a16:creationId xmlns:a16="http://schemas.microsoft.com/office/drawing/2014/main" id="{BC97CE2E-04D9-4442-84D3-449DE0185E48}"/>
              </a:ext>
            </a:extLst>
          </p:cNvPr>
          <p:cNvSpPr/>
          <p:nvPr/>
        </p:nvSpPr>
        <p:spPr>
          <a:xfrm>
            <a:off x="381000" y="1543050"/>
            <a:ext cx="211455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01  </a:t>
            </a:r>
            <a:r>
              <a:rPr sz="12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CAPTURE &amp; INGEST</a:t>
            </a:r>
          </a:p>
          <a:p>
            <a:pPr algn="l"/>
            <a:r>
              <a:rPr sz="9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Drone / phone video 1080p–4K + GPS·IMU telemetry; blur-scored keyframe pick (OpenCV, ffmpeg)</a:t>
            </a:r>
          </a:p>
        </p:txBody>
      </p:sp>
      <p:sp>
        <p:nvSpPr>
          <p:cNvPr id="17413" name="Shape 17413">
            <a:extLst>
              <a:ext uri="{FF2B5EF4-FFF2-40B4-BE49-F238E27FC236}">
                <a16:creationId xmlns:a16="http://schemas.microsoft.com/office/drawing/2014/main" id="{9FC31B85-3C61-4CE1-8DF7-85B6A8D1BA3E}"/>
              </a:ext>
            </a:extLst>
          </p:cNvPr>
          <p:cNvSpPr/>
          <p:nvPr/>
        </p:nvSpPr>
        <p:spPr>
          <a:xfrm>
            <a:off x="2686050" y="1543050"/>
            <a:ext cx="211455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02  </a:t>
            </a:r>
            <a:r>
              <a:rPr sz="12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CLEAN &amp; MATCH</a:t>
            </a:r>
          </a:p>
          <a:p>
            <a:pPr algn="l"/>
            <a:r>
              <a:rPr sz="9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Dynamic-object veto + illumination flatten on matching copies; GPU SIFT matching (COLMAP 4.1.1)</a:t>
            </a:r>
          </a:p>
        </p:txBody>
      </p:sp>
      <p:sp>
        <p:nvSpPr>
          <p:cNvPr id="17414" name="Shape 17414">
            <a:extLst>
              <a:ext uri="{FF2B5EF4-FFF2-40B4-BE49-F238E27FC236}">
                <a16:creationId xmlns:a16="http://schemas.microsoft.com/office/drawing/2014/main" id="{4F273458-7A4C-4C15-94C5-BDADFB13C2D6}"/>
              </a:ext>
            </a:extLst>
          </p:cNvPr>
          <p:cNvSpPr/>
          <p:nvPr/>
        </p:nvSpPr>
        <p:spPr>
          <a:xfrm>
            <a:off x="4991100" y="1543050"/>
            <a:ext cx="211455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03  </a:t>
            </a:r>
            <a:r>
              <a:rPr sz="12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SOLVE &amp; GEOREF</a:t>
            </a:r>
          </a:p>
          <a:p>
            <a:pPr algn="l"/>
            <a:r>
              <a:rPr sz="9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SfM bundle adjustment with GPS-as-priors; four-ruler metric scale + gravity; UTM/EGM96 Sim(3) fit</a:t>
            </a:r>
          </a:p>
        </p:txBody>
      </p:sp>
      <p:sp>
        <p:nvSpPr>
          <p:cNvPr id="17415" name="Shape 17415">
            <a:extLst>
              <a:ext uri="{FF2B5EF4-FFF2-40B4-BE49-F238E27FC236}">
                <a16:creationId xmlns:a16="http://schemas.microsoft.com/office/drawing/2014/main" id="{1EE1B26D-7E4A-4407-B979-F4AC1B4FC3B5}"/>
              </a:ext>
            </a:extLst>
          </p:cNvPr>
          <p:cNvSpPr/>
          <p:nvPr/>
        </p:nvSpPr>
        <p:spPr>
          <a:xfrm>
            <a:off x="7296150" y="1543050"/>
            <a:ext cx="211455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04  </a:t>
            </a:r>
            <a:r>
              <a:rPr sz="12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RECONSTRUCT</a:t>
            </a:r>
          </a:p>
          <a:p>
            <a:pPr algn="l"/>
            <a:r>
              <a:rPr sz="9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3D Gaussian Splatting (gsplat) for the photoreal view + COLMAP dense MVS → Poisson survey mesh</a:t>
            </a:r>
          </a:p>
        </p:txBody>
      </p:sp>
      <p:sp>
        <p:nvSpPr>
          <p:cNvPr id="17416" name="Shape 17416">
            <a:extLst>
              <a:ext uri="{FF2B5EF4-FFF2-40B4-BE49-F238E27FC236}">
                <a16:creationId xmlns:a16="http://schemas.microsoft.com/office/drawing/2014/main" id="{FA08B5D6-AD1D-4D83-B732-BC7CBA02775A}"/>
              </a:ext>
            </a:extLst>
          </p:cNvPr>
          <p:cNvSpPr/>
          <p:nvPr/>
        </p:nvSpPr>
        <p:spPr>
          <a:xfrm>
            <a:off x="9601200" y="1543050"/>
            <a:ext cx="2114550" cy="1104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05  </a:t>
            </a:r>
            <a:r>
              <a:rPr sz="12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DELIVER &amp; VERIFY</a:t>
            </a:r>
          </a:p>
          <a:p>
            <a:pPr algn="l"/>
            <a:r>
              <a:rPr sz="9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Six official formats, ortho/DSM rasters, textured GLB; walkable viewer, 11-rule gate, blinded A/B</a:t>
            </a:r>
          </a:p>
        </p:txBody>
      </p:sp>
      <p:sp>
        <p:nvSpPr>
          <p:cNvPr id="17417" name="Shape 17417">
            <a:extLst>
              <a:ext uri="{FF2B5EF4-FFF2-40B4-BE49-F238E27FC236}">
                <a16:creationId xmlns:a16="http://schemas.microsoft.com/office/drawing/2014/main" id="{D574A18D-5B93-43F0-8ACA-CDA355538322}"/>
              </a:ext>
            </a:extLst>
          </p:cNvPr>
          <p:cNvSpPr/>
          <p:nvPr/>
        </p:nvSpPr>
        <p:spPr>
          <a:xfrm>
            <a:off x="2495550" y="1962150"/>
            <a:ext cx="190500" cy="26670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8" name="Shape 17418">
            <a:extLst>
              <a:ext uri="{FF2B5EF4-FFF2-40B4-BE49-F238E27FC236}">
                <a16:creationId xmlns:a16="http://schemas.microsoft.com/office/drawing/2014/main" id="{E01FF22F-9C90-40DA-99A8-D2D1B6928074}"/>
              </a:ext>
            </a:extLst>
          </p:cNvPr>
          <p:cNvSpPr/>
          <p:nvPr/>
        </p:nvSpPr>
        <p:spPr>
          <a:xfrm>
            <a:off x="4800600" y="1962150"/>
            <a:ext cx="190500" cy="26670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9" name="Shape 17419">
            <a:extLst>
              <a:ext uri="{FF2B5EF4-FFF2-40B4-BE49-F238E27FC236}">
                <a16:creationId xmlns:a16="http://schemas.microsoft.com/office/drawing/2014/main" id="{5A0F0E63-4CDA-4B5B-85AB-95C34CAF87B5}"/>
              </a:ext>
            </a:extLst>
          </p:cNvPr>
          <p:cNvSpPr/>
          <p:nvPr/>
        </p:nvSpPr>
        <p:spPr>
          <a:xfrm>
            <a:off x="7105650" y="1962150"/>
            <a:ext cx="190500" cy="26670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20" name="Shape 17420">
            <a:extLst>
              <a:ext uri="{FF2B5EF4-FFF2-40B4-BE49-F238E27FC236}">
                <a16:creationId xmlns:a16="http://schemas.microsoft.com/office/drawing/2014/main" id="{23AF6479-1D73-478D-83C6-755CA340FBB8}"/>
              </a:ext>
            </a:extLst>
          </p:cNvPr>
          <p:cNvSpPr/>
          <p:nvPr/>
        </p:nvSpPr>
        <p:spPr>
          <a:xfrm>
            <a:off x="9410700" y="1962150"/>
            <a:ext cx="190500" cy="26670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21" name="Shape 17421">
            <a:extLst>
              <a:ext uri="{FF2B5EF4-FFF2-40B4-BE49-F238E27FC236}">
                <a16:creationId xmlns:a16="http://schemas.microsoft.com/office/drawing/2014/main" id="{34D43406-3C99-49ED-AE67-6B3FBD643CCC}"/>
              </a:ext>
            </a:extLst>
          </p:cNvPr>
          <p:cNvSpPr/>
          <p:nvPr/>
        </p:nvSpPr>
        <p:spPr>
          <a:xfrm>
            <a:off x="381000" y="4209450"/>
            <a:ext cx="3714750" cy="2476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 · one 12 s drone pass over the rocks site</a:t>
            </a:r>
          </a:p>
        </p:txBody>
      </p:sp>
      <p:sp>
        <p:nvSpPr>
          <p:cNvPr id="17422" name="Shape 17422">
            <a:extLst>
              <a:ext uri="{FF2B5EF4-FFF2-40B4-BE49-F238E27FC236}">
                <a16:creationId xmlns:a16="http://schemas.microsoft.com/office/drawing/2014/main" id="{CF3A4B05-C2CA-4FC6-8FAB-E5E57FDD6B44}"/>
              </a:ext>
            </a:extLst>
          </p:cNvPr>
          <p:cNvSpPr/>
          <p:nvPr/>
        </p:nvSpPr>
        <p:spPr>
          <a:xfrm>
            <a:off x="4238625" y="4209450"/>
            <a:ext cx="3714750" cy="2476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RECONSTRUCT · 350 k dense points → shell + navmesh</a:t>
            </a:r>
          </a:p>
        </p:txBody>
      </p:sp>
      <p:sp>
        <p:nvSpPr>
          <p:cNvPr id="17423" name="Shape 17423">
            <a:extLst>
              <a:ext uri="{FF2B5EF4-FFF2-40B4-BE49-F238E27FC236}">
                <a16:creationId xmlns:a16="http://schemas.microsoft.com/office/drawing/2014/main" id="{6E578ED2-A9F4-45CF-82DE-E6630F810D35}"/>
              </a:ext>
            </a:extLst>
          </p:cNvPr>
          <p:cNvSpPr/>
          <p:nvPr/>
        </p:nvSpPr>
        <p:spPr>
          <a:xfrm>
            <a:off x="8096250" y="4209450"/>
            <a:ext cx="3714750" cy="2476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· metric, textured, walkable world</a:t>
            </a:r>
          </a:p>
        </p:txBody>
      </p:sp>
      <p:sp>
        <p:nvSpPr>
          <p:cNvPr id="17424" name="Shape 17424">
            <a:extLst>
              <a:ext uri="{FF2B5EF4-FFF2-40B4-BE49-F238E27FC236}">
                <a16:creationId xmlns:a16="http://schemas.microsoft.com/office/drawing/2014/main" id="{F61D0C07-7D8F-4207-8ECC-21AF909CC88D}"/>
              </a:ext>
            </a:extLst>
          </p:cNvPr>
          <p:cNvSpPr/>
          <p:nvPr/>
        </p:nvSpPr>
        <p:spPr>
          <a:xfrm>
            <a:off x="381000" y="4572000"/>
            <a:ext cx="5619750" cy="167640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25" name="Shape 17425">
            <a:extLst>
              <a:ext uri="{FF2B5EF4-FFF2-40B4-BE49-F238E27FC236}">
                <a16:creationId xmlns:a16="http://schemas.microsoft.com/office/drawing/2014/main" id="{4C8D998D-08AB-44BB-9B5A-5CD320CDE63D}"/>
              </a:ext>
            </a:extLst>
          </p:cNvPr>
          <p:cNvSpPr/>
          <p:nvPr/>
        </p:nvSpPr>
        <p:spPr>
          <a:xfrm>
            <a:off x="6191250" y="4572000"/>
            <a:ext cx="561975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26" name="TextBox 17426">
            <a:extLst>
              <a:ext uri="{FF2B5EF4-FFF2-40B4-BE49-F238E27FC236}">
                <a16:creationId xmlns:a16="http://schemas.microsoft.com/office/drawing/2014/main" id="{6B350E50-E506-4FBD-82EF-B6D987E690E3}"/>
              </a:ext>
            </a:extLst>
          </p:cNvPr>
          <p:cNvSpPr txBox="1"/>
          <p:nvPr/>
        </p:nvSpPr>
        <p:spPr>
          <a:xfrm>
            <a:off x="533400" y="4648200"/>
            <a:ext cx="5314950" cy="160020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TECH STACK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Compute 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Python 3.12 + 3.10/CUDA 12.4 · PyTorch 2.4.1 · gsplat 1.5.3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Vision    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COLMAP 4.1.1 (SfM / MVS / Poisson) · OpenCV 5 · ffmpeg 9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Geo        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PROJ / GDAL · rasterio · laspy · EGM96 geoid · Umeyama Sim(3)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Viewer   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PlayCanvas · ammo.js/Bullet · recast-navigation · Next.js console</a:t>
            </a:r>
          </a:p>
          <a:p>
            <a:pPr algn="l">
              <a:spcAft>
                <a:spcPct val="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Harness 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Playwright walk tests · 663 CPU tests · blinded A/B</a:t>
            </a:r>
          </a:p>
        </p:txBody>
      </p:sp>
      <p:sp>
        <p:nvSpPr>
          <p:cNvPr id="17427" name="TextBox 17427">
            <a:extLst>
              <a:ext uri="{FF2B5EF4-FFF2-40B4-BE49-F238E27FC236}">
                <a16:creationId xmlns:a16="http://schemas.microsoft.com/office/drawing/2014/main" id="{2B2847D1-3612-47EB-A7CA-E50E1A12D3B5}"/>
              </a:ext>
            </a:extLst>
          </p:cNvPr>
          <p:cNvSpPr txBox="1"/>
          <p:nvPr/>
        </p:nvSpPr>
        <p:spPr>
          <a:xfrm>
            <a:off x="6343650" y="4648200"/>
            <a:ext cx="5314950" cy="160020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NOVEL ENGINEERING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1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Dynamic veto: epipolar + temporal-median masks remove movers with no neural net (−7.8% reprojection error)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2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Metric truth: four named rulers + GPS-as-priors give metres and up with no GCPs; degenerate tracks refused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3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Measured walkability: an autopilot routes two candidate grounds; the 11-rule gate ships only what passes</a:t>
            </a:r>
          </a:p>
          <a:p>
            <a:pPr algn="l">
              <a:spcAft>
                <a:spcPct val="0"/>
              </a:spcAft>
            </a:pPr>
            <a:r>
              <a:rPr sz="1000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4  </a:t>
            </a: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Honest occlusion: measured / weak / unobserved kept separate</a:t>
            </a:r>
          </a:p>
        </p:txBody>
      </p:sp>
      <p:pic>
        <p:nvPicPr>
          <p:cNvPr id="17428" name="Picture 17428">
            <a:extLst>
              <a:ext uri="{FF2B5EF4-FFF2-40B4-BE49-F238E27FC236}">
                <a16:creationId xmlns:a16="http://schemas.microsoft.com/office/drawing/2014/main" id="{DBF4875E-B135-4099-B92F-724D17F2203E}"/>
              </a:ext>
            </a:extLst>
          </p:cNvPr>
          <p:cNvPicPr/>
          <p:nvPr/>
        </p:nvPicPr>
        <p:blipFill>
          <a:blip r:embed="rId4"/>
          <a:srcRect t="13639" b="13639"/>
          <a:stretch>
            <a:fillRect/>
          </a:stretch>
        </p:blipFill>
        <p:spPr>
          <a:xfrm>
            <a:off x="381000" y="2781300"/>
            <a:ext cx="3714750" cy="1428750"/>
          </a:xfrm>
          <a:prstGeom prst="rect">
            <a:avLst/>
          </a:prstGeom>
        </p:spPr>
      </p:pic>
      <p:pic>
        <p:nvPicPr>
          <p:cNvPr id="17429" name="Picture 17429">
            <a:extLst>
              <a:ext uri="{FF2B5EF4-FFF2-40B4-BE49-F238E27FC236}">
                <a16:creationId xmlns:a16="http://schemas.microsoft.com/office/drawing/2014/main" id="{C1C588CF-2F44-4DF4-AE8E-FB4CBF7B950B}"/>
              </a:ext>
            </a:extLst>
          </p:cNvPr>
          <p:cNvPicPr/>
          <p:nvPr/>
        </p:nvPicPr>
        <p:blipFill>
          <a:blip r:embed="rId5"/>
          <a:srcRect t="15812" b="15812"/>
          <a:stretch>
            <a:fillRect/>
          </a:stretch>
        </p:blipFill>
        <p:spPr>
          <a:xfrm>
            <a:off x="4238625" y="2781300"/>
            <a:ext cx="3714750" cy="1428750"/>
          </a:xfrm>
          <a:prstGeom prst="rect">
            <a:avLst/>
          </a:prstGeom>
        </p:spPr>
      </p:pic>
      <p:pic>
        <p:nvPicPr>
          <p:cNvPr id="17430" name="Picture 17430">
            <a:extLst>
              <a:ext uri="{FF2B5EF4-FFF2-40B4-BE49-F238E27FC236}">
                <a16:creationId xmlns:a16="http://schemas.microsoft.com/office/drawing/2014/main" id="{C5E7EE02-DB88-4807-BE6C-5C22AD5E3CC4}"/>
              </a:ext>
            </a:extLst>
          </p:cNvPr>
          <p:cNvPicPr/>
          <p:nvPr/>
        </p:nvPicPr>
        <p:blipFill>
          <a:blip r:embed="rId6"/>
          <a:srcRect l="4206" r="4206"/>
          <a:stretch>
            <a:fillRect/>
          </a:stretch>
        </p:blipFill>
        <p:spPr>
          <a:xfrm>
            <a:off x="8096250" y="2781300"/>
            <a:ext cx="3714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hape 17411">
            <a:extLst>
              <a:ext uri="{FF2B5EF4-FFF2-40B4-BE49-F238E27FC236}">
                <a16:creationId xmlns:a16="http://schemas.microsoft.com/office/drawing/2014/main" id="{F7C84228-7258-45FA-B737-BE03FC929E6D}"/>
              </a:ext>
            </a:extLst>
          </p:cNvPr>
          <p:cNvSpPr/>
          <p:nvPr/>
        </p:nvSpPr>
        <p:spPr>
          <a:xfrm>
            <a:off x="381000" y="1219200"/>
            <a:ext cx="5619750" cy="285750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2" name="Shape 17412">
            <a:extLst>
              <a:ext uri="{FF2B5EF4-FFF2-40B4-BE49-F238E27FC236}">
                <a16:creationId xmlns:a16="http://schemas.microsoft.com/office/drawing/2014/main" id="{3961889F-AC92-48CF-95B0-A0BF0F7AAA97}"/>
              </a:ext>
            </a:extLst>
          </p:cNvPr>
          <p:cNvSpPr/>
          <p:nvPr/>
        </p:nvSpPr>
        <p:spPr>
          <a:xfrm>
            <a:off x="6191250" y="1219200"/>
            <a:ext cx="561975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3" name="TextBox 17413">
            <a:extLst>
              <a:ext uri="{FF2B5EF4-FFF2-40B4-BE49-F238E27FC236}">
                <a16:creationId xmlns:a16="http://schemas.microsoft.com/office/drawing/2014/main" id="{2291D4BA-0C3A-418E-A050-4C1A9703A7A0}"/>
              </a:ext>
            </a:extLst>
          </p:cNvPr>
          <p:cNvSpPr txBox="1"/>
          <p:nvPr/>
        </p:nvSpPr>
        <p:spPr>
          <a:xfrm>
            <a:off x="533400" y="1333500"/>
            <a:ext cx="5314950" cy="2628900"/>
          </a:xfrm>
        </p:spPr>
        <p:txBody>
          <a:bodyPr wrap="square" rtlCol="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FEASIBILITY — ALREADY DEMONSTRATED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Runs end-to-end on one 6 GB laptop GPU (RTX 3050); VRAM-aware budgets keep splat training under 1.3 GiB.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Real captures solved: 72/72 and 288/291 frames registered; up to 1.57 M fused dense points.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Georeferenced delivery proven on a real run: 287/287 cameras matched, Sim(3) fit RMSE 0.64 m, 5/6 formats georeferenced + WGS84 table.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663 automated CPU tests; every LAS / GeoTIFF is re-read by laspy / GDAL and deleted if misread.</a:t>
            </a:r>
          </a:p>
          <a:p>
            <a:pPr algn="l">
              <a:spcAft>
                <a:spcPct val="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Export writers validated by re-reading every file they write; five real writer defects were caught this way.</a:t>
            </a:r>
          </a:p>
        </p:txBody>
      </p:sp>
      <p:sp>
        <p:nvSpPr>
          <p:cNvPr id="17414" name="TextBox 17414">
            <a:extLst>
              <a:ext uri="{FF2B5EF4-FFF2-40B4-BE49-F238E27FC236}">
                <a16:creationId xmlns:a16="http://schemas.microsoft.com/office/drawing/2014/main" id="{1FFAEA5F-8721-4F09-A8F5-6A3AC1F07BDD}"/>
              </a:ext>
            </a:extLst>
          </p:cNvPr>
          <p:cNvSpPr txBox="1"/>
          <p:nvPr/>
        </p:nvSpPr>
        <p:spPr>
          <a:xfrm>
            <a:off x="6343650" y="1333500"/>
            <a:ext cx="5314950" cy="2628900"/>
          </a:xfrm>
        </p:spPr>
        <p:txBody>
          <a:bodyPr wrap="square" rtlCol="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CHALLENGES &amp; RISKS → MITIGATION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Speed gate (&lt;15 min per 10-min video) not yet met on 6 GB → streaming-window reconstruction + fast dense profile (2.33× measured).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No surveyed checkpoints yet → checkpoint RMSE / P95 harness ready; the 1.14 m VIO hold-out is flagged as the wrong reference, never quoted as accuracy.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Moving objects corrupt matching → motion-consistent dynamic veto (tracks −18.4%, reprojection error −7.8%).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Cloud / fog reconstructs as solid geometry → saturation + height cloud cull with compact-structure protection.</a:t>
            </a:r>
          </a:p>
          <a:p>
            <a:pPr algn="l">
              <a:spcAft>
                <a:spcPct val="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Low-texture or rotation-only footage degenerates the solve → phone / AR pose priors as a fallback path.</a:t>
            </a:r>
          </a:p>
        </p:txBody>
      </p:sp>
      <p:sp>
        <p:nvSpPr>
          <p:cNvPr id="17415" name="Shape 17415">
            <a:extLst>
              <a:ext uri="{FF2B5EF4-FFF2-40B4-BE49-F238E27FC236}">
                <a16:creationId xmlns:a16="http://schemas.microsoft.com/office/drawing/2014/main" id="{13C705D2-FBBC-450F-BE07-EA05344398DD}"/>
              </a:ext>
            </a:extLst>
          </p:cNvPr>
          <p:cNvSpPr/>
          <p:nvPr/>
        </p:nvSpPr>
        <p:spPr>
          <a:xfrm>
            <a:off x="381000" y="4229100"/>
            <a:ext cx="3676650" cy="1962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6" name="Shape 17416">
            <a:extLst>
              <a:ext uri="{FF2B5EF4-FFF2-40B4-BE49-F238E27FC236}">
                <a16:creationId xmlns:a16="http://schemas.microsoft.com/office/drawing/2014/main" id="{945A7E86-C11C-4D6C-BEC6-8F0E8FE18360}"/>
              </a:ext>
            </a:extLst>
          </p:cNvPr>
          <p:cNvSpPr/>
          <p:nvPr/>
        </p:nvSpPr>
        <p:spPr>
          <a:xfrm>
            <a:off x="4257675" y="4229100"/>
            <a:ext cx="3676650" cy="1962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7" name="Shape 17417">
            <a:extLst>
              <a:ext uri="{FF2B5EF4-FFF2-40B4-BE49-F238E27FC236}">
                <a16:creationId xmlns:a16="http://schemas.microsoft.com/office/drawing/2014/main" id="{52175B3B-3F77-4F6E-BA05-66607740ECB8}"/>
              </a:ext>
            </a:extLst>
          </p:cNvPr>
          <p:cNvSpPr/>
          <p:nvPr/>
        </p:nvSpPr>
        <p:spPr>
          <a:xfrm>
            <a:off x="8134350" y="4229100"/>
            <a:ext cx="3676650" cy="1962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8" name="TextBox 17418">
            <a:extLst>
              <a:ext uri="{FF2B5EF4-FFF2-40B4-BE49-F238E27FC236}">
                <a16:creationId xmlns:a16="http://schemas.microsoft.com/office/drawing/2014/main" id="{36BC305C-EA7A-447C-B1CB-AC23C5FF42B4}"/>
              </a:ext>
            </a:extLst>
          </p:cNvPr>
          <p:cNvSpPr txBox="1"/>
          <p:nvPr/>
        </p:nvSpPr>
        <p:spPr>
          <a:xfrm>
            <a:off x="514350" y="4343400"/>
            <a:ext cx="3409950" cy="173355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TECHNICAL VIABILITY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CPU-only path for everything except splat training and dense MVS; Windows today, Linux porting next.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Step markers hash the code that ran, so stale caches cannot hide a fix; every failure is classified with a fix line.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Trainer peak 1.26 GiB at the high preset; partial-PLY checkpoints survive OS kills.</a:t>
            </a:r>
          </a:p>
        </p:txBody>
      </p:sp>
      <p:sp>
        <p:nvSpPr>
          <p:cNvPr id="17419" name="TextBox 17419">
            <a:extLst>
              <a:ext uri="{FF2B5EF4-FFF2-40B4-BE49-F238E27FC236}">
                <a16:creationId xmlns:a16="http://schemas.microsoft.com/office/drawing/2014/main" id="{E9C0B640-0364-4808-BEDB-1C97BB3BD9BE}"/>
              </a:ext>
            </a:extLst>
          </p:cNvPr>
          <p:cNvSpPr txBox="1"/>
          <p:nvPr/>
        </p:nvSpPr>
        <p:spPr>
          <a:xfrm>
            <a:off x="4391025" y="4343400"/>
            <a:ext cx="3409950" cy="173355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OPERATIONAL VIABILITY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One operator, one pass; a phone WebXR scan is a valid fallback when a drone cannot fly.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viewer and Next.js console need no install; outputs open in GDAL / laspy / any glTF tool.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Ground Control console shows stage timings, peak VRAM and gate verdicts per run.</a:t>
            </a:r>
          </a:p>
        </p:txBody>
      </p:sp>
      <p:sp>
        <p:nvSpPr>
          <p:cNvPr id="17420" name="TextBox 17420">
            <a:extLst>
              <a:ext uri="{FF2B5EF4-FFF2-40B4-BE49-F238E27FC236}">
                <a16:creationId xmlns:a16="http://schemas.microsoft.com/office/drawing/2014/main" id="{3A24ACDF-6F27-4E8C-8E00-AB077218EA6E}"/>
              </a:ext>
            </a:extLst>
          </p:cNvPr>
          <p:cNvSpPr txBox="1"/>
          <p:nvPr/>
        </p:nvSpPr>
        <p:spPr>
          <a:xfrm>
            <a:off x="8267700" y="4343400"/>
            <a:ext cx="3409950" cy="173355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ECONOMIC VIABILITY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All-core open source (COLMAP, gsplat, PlayCanvas) — no paid SDKs or per-seat licences.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Replaces survey-crew fieldwork and GCP campaigns with one video pass on a commodity laptop.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One laptop replaces photogrammetry workstations and licence seats.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hape 17411">
            <a:extLst>
              <a:ext uri="{FF2B5EF4-FFF2-40B4-BE49-F238E27FC236}">
                <a16:creationId xmlns:a16="http://schemas.microsoft.com/office/drawing/2014/main" id="{3F1970D9-EE52-4542-AF00-47E2798DC46C}"/>
              </a:ext>
            </a:extLst>
          </p:cNvPr>
          <p:cNvSpPr/>
          <p:nvPr/>
        </p:nvSpPr>
        <p:spPr>
          <a:xfrm>
            <a:off x="381000" y="1219200"/>
            <a:ext cx="7334250" cy="228600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2" name="TextBox 17412">
            <a:extLst>
              <a:ext uri="{FF2B5EF4-FFF2-40B4-BE49-F238E27FC236}">
                <a16:creationId xmlns:a16="http://schemas.microsoft.com/office/drawing/2014/main" id="{C2C0F79C-6D6D-41C7-A303-415C060560E0}"/>
              </a:ext>
            </a:extLst>
          </p:cNvPr>
          <p:cNvSpPr txBox="1"/>
          <p:nvPr/>
        </p:nvSpPr>
        <p:spPr>
          <a:xfrm>
            <a:off x="533400" y="1333500"/>
            <a:ext cx="7027450" cy="2057400"/>
          </a:xfrm>
        </p:spPr>
        <p:txBody>
          <a:bodyPr wrap="square" rtlCol="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POTENTIAL IMPACT ON THE TARGET AUDIENCE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Defence &amp; intelligence (NTRO): a georeferenced 3D model of an area from a single reconnaissance pass, ready for mission rehearsal.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Disaster response: damage assessment and route planning inside a walkable replica of the affected site within minutes of capture.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Survey, mining, construction &amp; urban planning: metric DSM / DTM, orthomosaic and volume-ready meshes without a ground crew.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All eight official application verticals are served by one pipeline.</a:t>
            </a:r>
          </a:p>
          <a:p>
            <a:pPr algn="l">
              <a:spcAft>
                <a:spcPct val="0"/>
              </a:spcAft>
            </a:pPr>
            <a:r>
              <a:rPr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 Inspection &amp; archaeology: repeat passes diff against the archived model.</a:t>
            </a:r>
          </a:p>
        </p:txBody>
      </p:sp>
      <p:sp>
        <p:nvSpPr>
          <p:cNvPr id="17413" name="Shape 17413">
            <a:extLst>
              <a:ext uri="{FF2B5EF4-FFF2-40B4-BE49-F238E27FC236}">
                <a16:creationId xmlns:a16="http://schemas.microsoft.com/office/drawing/2014/main" id="{33893492-4E6F-409C-A386-6239120092EC}"/>
              </a:ext>
            </a:extLst>
          </p:cNvPr>
          <p:cNvSpPr/>
          <p:nvPr/>
        </p:nvSpPr>
        <p:spPr>
          <a:xfrm>
            <a:off x="7905750" y="3505200"/>
            <a:ext cx="3905250" cy="2476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VERIFICATION · headless-browser autopilot walk with live telemetry</a:t>
            </a:r>
          </a:p>
        </p:txBody>
      </p:sp>
      <p:sp>
        <p:nvSpPr>
          <p:cNvPr id="17414" name="Shape 17414">
            <a:extLst>
              <a:ext uri="{FF2B5EF4-FFF2-40B4-BE49-F238E27FC236}">
                <a16:creationId xmlns:a16="http://schemas.microsoft.com/office/drawing/2014/main" id="{ADFE2ADD-9D95-4F53-9C32-D8B30049A1A4}"/>
              </a:ext>
            </a:extLst>
          </p:cNvPr>
          <p:cNvSpPr/>
          <p:nvPr/>
        </p:nvSpPr>
        <p:spPr>
          <a:xfrm>
            <a:off x="381000" y="3905250"/>
            <a:ext cx="367665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5" name="Shape 17415">
            <a:extLst>
              <a:ext uri="{FF2B5EF4-FFF2-40B4-BE49-F238E27FC236}">
                <a16:creationId xmlns:a16="http://schemas.microsoft.com/office/drawing/2014/main" id="{ECC72F7D-BC63-4CE1-90DA-E950E5C1B90E}"/>
              </a:ext>
            </a:extLst>
          </p:cNvPr>
          <p:cNvSpPr/>
          <p:nvPr/>
        </p:nvSpPr>
        <p:spPr>
          <a:xfrm>
            <a:off x="4257675" y="3905250"/>
            <a:ext cx="367665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6" name="Shape 17416">
            <a:extLst>
              <a:ext uri="{FF2B5EF4-FFF2-40B4-BE49-F238E27FC236}">
                <a16:creationId xmlns:a16="http://schemas.microsoft.com/office/drawing/2014/main" id="{FCB9C95E-2B7A-4446-8196-9DDE4F568B74}"/>
              </a:ext>
            </a:extLst>
          </p:cNvPr>
          <p:cNvSpPr/>
          <p:nvPr/>
        </p:nvSpPr>
        <p:spPr>
          <a:xfrm>
            <a:off x="8134350" y="3905250"/>
            <a:ext cx="367665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7" name="TextBox 17417">
            <a:extLst>
              <a:ext uri="{FF2B5EF4-FFF2-40B4-BE49-F238E27FC236}">
                <a16:creationId xmlns:a16="http://schemas.microsoft.com/office/drawing/2014/main" id="{27D4DC09-687E-4457-808B-3986EC98E5F5}"/>
              </a:ext>
            </a:extLst>
          </p:cNvPr>
          <p:cNvSpPr txBox="1"/>
          <p:nvPr/>
        </p:nvSpPr>
        <p:spPr>
          <a:xfrm>
            <a:off x="514350" y="4019550"/>
            <a:ext cx="3409950" cy="205740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SOCIAL &amp; SAFETY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Rescue teams rehearse and plan routes inside the site before entering it; no personnel exposed to unstable structures.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Evidence-grade documentation of disaster and heritage sites, reproducible from the archived run bundle.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Walkable replicas train responders without exposing them to the real site.</a:t>
            </a:r>
          </a:p>
        </p:txBody>
      </p:sp>
      <p:sp>
        <p:nvSpPr>
          <p:cNvPr id="17418" name="TextBox 17418">
            <a:extLst>
              <a:ext uri="{FF2B5EF4-FFF2-40B4-BE49-F238E27FC236}">
                <a16:creationId xmlns:a16="http://schemas.microsoft.com/office/drawing/2014/main" id="{7A78F826-054B-4EE8-8D0D-626F42E9407F}"/>
              </a:ext>
            </a:extLst>
          </p:cNvPr>
          <p:cNvSpPr txBox="1"/>
          <p:nvPr/>
        </p:nvSpPr>
        <p:spPr>
          <a:xfrm>
            <a:off x="4391025" y="4019550"/>
            <a:ext cx="3409950" cy="205740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ECONOMIC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Removes GCP field campaigns and multi-pass flights — one pass, one operator, commodity hardware.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Open-source core avoids per-project photogrammetry licence costs (Metashape / Pix4D class).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Throughput prediction error 1.0% against measured runtime on a real run.</a:t>
            </a:r>
          </a:p>
        </p:txBody>
      </p:sp>
      <p:sp>
        <p:nvSpPr>
          <p:cNvPr id="17419" name="TextBox 17419">
            <a:extLst>
              <a:ext uri="{FF2B5EF4-FFF2-40B4-BE49-F238E27FC236}">
                <a16:creationId xmlns:a16="http://schemas.microsoft.com/office/drawing/2014/main" id="{2E4C7533-FAC9-4F55-92A2-506FCCAB0DF7}"/>
              </a:ext>
            </a:extLst>
          </p:cNvPr>
          <p:cNvSpPr txBox="1"/>
          <p:nvPr/>
        </p:nvSpPr>
        <p:spPr>
          <a:xfrm>
            <a:off x="8267700" y="4019550"/>
            <a:ext cx="3409950" cy="2057400"/>
          </a:xfrm>
        </p:spPr>
        <p:txBody>
          <a:bodyPr wrap="square" rtlCol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ENVIRONMENTAL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Fewer flight hours and no ground-survey vehicle trips per site modelled.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occlusion policy reports unobserved areas instead of inventing them, so decisions rest on measured ground.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One pass replaces repeated ground surveys across fragile terrain.</a:t>
            </a:r>
          </a:p>
        </p:txBody>
      </p:sp>
      <p:pic>
        <p:nvPicPr>
          <p:cNvPr id="17420" name="Picture 17420">
            <a:extLst>
              <a:ext uri="{FF2B5EF4-FFF2-40B4-BE49-F238E27FC236}">
                <a16:creationId xmlns:a16="http://schemas.microsoft.com/office/drawing/2014/main" id="{CDE42CC9-D672-4245-821D-71F33DF7ECB6}"/>
              </a:ext>
            </a:extLst>
          </p:cNvPr>
          <p:cNvPicPr/>
          <p:nvPr/>
        </p:nvPicPr>
        <p:blipFill>
          <a:blip r:embed="rId4"/>
          <a:srcRect l="1953" r="1953"/>
          <a:stretch>
            <a:fillRect/>
          </a:stretch>
        </p:blipFill>
        <p:spPr>
          <a:xfrm>
            <a:off x="7905750" y="1219200"/>
            <a:ext cx="39052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Shape 17411">
            <a:extLst>
              <a:ext uri="{FF2B5EF4-FFF2-40B4-BE49-F238E27FC236}">
                <a16:creationId xmlns:a16="http://schemas.microsoft.com/office/drawing/2014/main" id="{23C69104-F1F7-4E22-811E-87CF140FA8CC}"/>
              </a:ext>
            </a:extLst>
          </p:cNvPr>
          <p:cNvSpPr/>
          <p:nvPr/>
        </p:nvSpPr>
        <p:spPr>
          <a:xfrm>
            <a:off x="381000" y="1219200"/>
            <a:ext cx="3714750" cy="4972050"/>
          </a:xfrm>
          <a:prstGeom prst="roundRect">
            <a:avLst>
              <a:gd name="adj" fmla="val 4000"/>
            </a:avLst>
          </a:prstGeom>
          <a:solidFill>
            <a:srgbClr val="EAF1FA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2" name="Shape 17412">
            <a:extLst>
              <a:ext uri="{FF2B5EF4-FFF2-40B4-BE49-F238E27FC236}">
                <a16:creationId xmlns:a16="http://schemas.microsoft.com/office/drawing/2014/main" id="{21855F5E-913A-4D7E-BCF2-912DBE038C71}"/>
              </a:ext>
            </a:extLst>
          </p:cNvPr>
          <p:cNvSpPr/>
          <p:nvPr/>
        </p:nvSpPr>
        <p:spPr>
          <a:xfrm>
            <a:off x="4286250" y="1219200"/>
            <a:ext cx="3714750" cy="49720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3" name="Shape 17413">
            <a:extLst>
              <a:ext uri="{FF2B5EF4-FFF2-40B4-BE49-F238E27FC236}">
                <a16:creationId xmlns:a16="http://schemas.microsoft.com/office/drawing/2014/main" id="{A562EDC3-44C3-4593-8E50-931927CF11E8}"/>
              </a:ext>
            </a:extLst>
          </p:cNvPr>
          <p:cNvSpPr/>
          <p:nvPr/>
        </p:nvSpPr>
        <p:spPr>
          <a:xfrm>
            <a:off x="8191500" y="1219200"/>
            <a:ext cx="3619500" cy="4972050"/>
          </a:xfrm>
          <a:prstGeom prst="roundRect">
            <a:avLst>
              <a:gd name="adj" fmla="val 4000"/>
            </a:avLst>
          </a:prstGeom>
          <a:solidFill>
            <a:srgbClr val="EAF1FA"/>
          </a:solidFill>
          <a:ln w="9525">
            <a:solidFill>
              <a:srgbClr val="B9CF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414" name="TextBox 17414">
            <a:extLst>
              <a:ext uri="{FF2B5EF4-FFF2-40B4-BE49-F238E27FC236}">
                <a16:creationId xmlns:a16="http://schemas.microsoft.com/office/drawing/2014/main" id="{3F51983A-DFF7-4A7A-81FC-2ED85323ECA7}"/>
              </a:ext>
            </a:extLst>
          </p:cNvPr>
          <p:cNvSpPr txBox="1"/>
          <p:nvPr/>
        </p:nvSpPr>
        <p:spPr>
          <a:xfrm>
            <a:off x="514350" y="1333500"/>
            <a:ext cx="3448050" cy="4743450"/>
          </a:xfrm>
        </p:spPr>
        <p:txBody>
          <a:bodyPr wrap="square" rtlCol="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CORE METHODS IN USE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COLMAP 4.1.1 — SfM, patch-match MVS, Poisson &amp; Delaunay meshing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3D Gaussian Splatting; gsplat trainer (nerfstudio, Apache-2.0)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Umeyama / Procrustes Sim(3) scale &amp; georef fit; RANSAC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SMRF bare-earth filter; A* + string-pulling navigation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EGM96 (NGA 15′ geoid) + PROJ / GDAL / rasterio / laspy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PlayCanvas engine, ammo.js / Bullet, recast-navigation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MoGe-2 monocular depth as an independent second ruler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ffmpeg 9 decode; Laplacian / Tenengrad frame-quality scoring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recast-navigation navmesh bake; Playwright walk harness</a:t>
            </a:r>
          </a:p>
        </p:txBody>
      </p:sp>
      <p:sp>
        <p:nvSpPr>
          <p:cNvPr id="17415" name="TextBox 17415">
            <a:extLst>
              <a:ext uri="{FF2B5EF4-FFF2-40B4-BE49-F238E27FC236}">
                <a16:creationId xmlns:a16="http://schemas.microsoft.com/office/drawing/2014/main" id="{F21C4A4E-9B5C-4F1A-951A-D4D5E832E46C}"/>
              </a:ext>
            </a:extLst>
          </p:cNvPr>
          <p:cNvSpPr txBox="1"/>
          <p:nvPr/>
        </p:nvSpPr>
        <p:spPr>
          <a:xfrm>
            <a:off x="4419600" y="1333500"/>
            <a:ext cx="3448050" cy="4743450"/>
          </a:xfrm>
        </p:spPr>
        <p:txBody>
          <a:bodyPr wrap="square" rtlCol="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SURVEYED &amp; COMPARED (docs 06–08)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VGGT / VGGT-Long / VGGT-SLAM (CVPR 2025 best paper)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DROID-SLAM, DPVO, MASt3R-SLAM, DUSt3R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Depth Anything v2/v3; AnySplat, MVSplat, DepthSplat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2DGS; SuGaR / PGSR / GOF (licence-reviewed)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OpenDroneMap, Meshroom, OpenMVG / OpenMVS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Metashape, Pix4D, RealityCapture (UI / accuracy benchmarks)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LightGlue / ALIKED learned matching; SAM 2, YOLO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LaMa / ProPainter inpainting — evaluated, rejected for measurement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NeRF / Zip-NeRF / ReconFusion / Cat3D (surveyed, not used)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TRELLIS / Hunyuan3D / GSCompleter (completion research)</a:t>
            </a:r>
          </a:p>
        </p:txBody>
      </p:sp>
      <p:sp>
        <p:nvSpPr>
          <p:cNvPr id="17416" name="TextBox 17416">
            <a:extLst>
              <a:ext uri="{FF2B5EF4-FFF2-40B4-BE49-F238E27FC236}">
                <a16:creationId xmlns:a16="http://schemas.microsoft.com/office/drawing/2014/main" id="{8EEA5A90-69A9-48F6-9743-4B26510C688E}"/>
              </a:ext>
            </a:extLst>
          </p:cNvPr>
          <p:cNvSpPr txBox="1"/>
          <p:nvPr/>
        </p:nvSpPr>
        <p:spPr>
          <a:xfrm>
            <a:off x="8324850" y="1333500"/>
            <a:ext cx="3352800" cy="4743450"/>
          </a:xfrm>
        </p:spPr>
        <p:txBody>
          <a:bodyPr wrap="square" rtlCol="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BENCHMARKS, SOURCES &amp; EVIDENCE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SIH26158 official statement, NTRO (Problem 17, pp. 37–39)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 &amp; Remondino 2014 — UAV photogrammetry review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ETH3D, Tanks &amp; Temples, DTU, UrbanScene3D (planned benchmarks)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09_SIH26158 Evaluation &amp; Improvement Report, 2026-09-22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docs/readiness findings &amp; evidence map, 2026-09-23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docs/GAPS_AND_OPTIMIZATIONS.md (status 2026-09-26)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06 Splat Completion · 07 Video-to-3D Alternatives · 08 Splat Cleaning (2026)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scratch/SIH26158 official statement scans (pp. 37–39)</a:t>
            </a:r>
          </a:p>
          <a:p>
            <a:pPr algn="l">
              <a:spcAft>
                <a:spcPct val="0"/>
              </a:spcAft>
            </a:pPr>
            <a:r>
              <a:rPr sz="10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repo test suite: 663 CPU tests passing (2026-09-26)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